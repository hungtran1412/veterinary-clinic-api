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7"/>
  </p:notesMasterIdLst>
  <p:sldIdLst>
    <p:sldId id="337" r:id="rId2"/>
    <p:sldId id="429" r:id="rId3"/>
    <p:sldId id="428" r:id="rId4"/>
    <p:sldId id="320" r:id="rId5"/>
    <p:sldId id="408" r:id="rId6"/>
    <p:sldId id="430" r:id="rId7"/>
    <p:sldId id="431" r:id="rId8"/>
    <p:sldId id="432" r:id="rId9"/>
    <p:sldId id="433" r:id="rId10"/>
    <p:sldId id="434" r:id="rId11"/>
    <p:sldId id="436" r:id="rId12"/>
    <p:sldId id="437" r:id="rId13"/>
    <p:sldId id="438" r:id="rId14"/>
    <p:sldId id="439" r:id="rId15"/>
    <p:sldId id="440" r:id="rId16"/>
    <p:sldId id="441" r:id="rId17"/>
    <p:sldId id="442" r:id="rId18"/>
    <p:sldId id="446" r:id="rId19"/>
    <p:sldId id="474" r:id="rId20"/>
    <p:sldId id="447" r:id="rId21"/>
    <p:sldId id="470" r:id="rId22"/>
    <p:sldId id="471" r:id="rId23"/>
    <p:sldId id="472" r:id="rId24"/>
    <p:sldId id="448" r:id="rId25"/>
    <p:sldId id="449" r:id="rId26"/>
    <p:sldId id="473" r:id="rId27"/>
    <p:sldId id="455" r:id="rId28"/>
    <p:sldId id="456" r:id="rId29"/>
    <p:sldId id="451" r:id="rId30"/>
    <p:sldId id="468" r:id="rId31"/>
    <p:sldId id="443" r:id="rId32"/>
    <p:sldId id="444" r:id="rId33"/>
    <p:sldId id="453" r:id="rId34"/>
    <p:sldId id="454" r:id="rId35"/>
    <p:sldId id="445" r:id="rId36"/>
  </p:sldIdLst>
  <p:sldSz cx="18288000" cy="10287000"/>
  <p:notesSz cx="6858000" cy="9144000"/>
  <p:embeddedFontLst>
    <p:embeddedFont>
      <p:font typeface="Muli Bold" panose="020B0604020202020204" charset="0"/>
      <p:regular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12" userDrawn="1">
          <p15:clr>
            <a:srgbClr val="A4A3A4"/>
          </p15:clr>
        </p15:guide>
        <p15:guide id="2" pos="240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nh Đăng Nguyễn" initials="MĐN" lastIdx="1" clrIdx="0">
    <p:extLst>
      <p:ext uri="{19B8F6BF-5375-455C-9EA6-DF929625EA0E}">
        <p15:presenceInfo xmlns:p15="http://schemas.microsoft.com/office/powerpoint/2012/main" userId="41d8086b567c1d4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83F3B"/>
    <a:srgbClr val="007A48"/>
    <a:srgbClr val="FCAF17"/>
    <a:srgbClr val="173F3B"/>
    <a:srgbClr val="A3CCCC"/>
    <a:srgbClr val="E6E6B8"/>
    <a:srgbClr val="2882C2"/>
    <a:srgbClr val="A4E473"/>
    <a:srgbClr val="8CAC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52" autoAdjust="0"/>
    <p:restoredTop sz="85351" autoAdjust="0"/>
  </p:normalViewPr>
  <p:slideViewPr>
    <p:cSldViewPr>
      <p:cViewPr varScale="1">
        <p:scale>
          <a:sx n="63" d="100"/>
          <a:sy n="63" d="100"/>
        </p:scale>
        <p:origin x="1026" y="90"/>
      </p:cViewPr>
      <p:guideLst>
        <p:guide orient="horz" pos="1512"/>
        <p:guide pos="240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00" d="100"/>
        <a:sy n="300" d="100"/>
      </p:scale>
      <p:origin x="0" y="0"/>
    </p:cViewPr>
  </p:notesTextViewPr>
  <p:sorterViewPr>
    <p:cViewPr>
      <p:scale>
        <a:sx n="100" d="100"/>
        <a:sy n="100" d="100"/>
      </p:scale>
      <p:origin x="0" y="-816"/>
    </p:cViewPr>
  </p:sorterViewPr>
  <p:notesViewPr>
    <p:cSldViewPr>
      <p:cViewPr varScale="1">
        <p:scale>
          <a:sx n="54" d="100"/>
          <a:sy n="54" d="100"/>
        </p:scale>
        <p:origin x="2898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commentAuthors" Target="commentAuthor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1068B4-93DB-4060-B01D-FA3D112EF7F2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DE5A3E-F11E-41F0-A9D1-DAF15D4443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0187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8286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9DA6C-49B0-8DBF-A345-8A04C1783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46D63D-3981-0A30-14A7-140BFB2B04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557690-61B9-51FD-818D-7C7201143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F38A47-B9F6-8B37-DB00-AE4573B4EC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387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8DE11-09CB-791D-F160-339AD6682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10839C-2343-F258-1CF1-41346B30B1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25C83F-5F22-F730-D89A-BF4AFE16D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A41ED2-C100-01CA-45AA-CA35454611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3003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2577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47043-782D-1F30-4AB4-5DB698AA4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C48499-CB1F-75D0-B9A8-07FC8FB9B2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1B75B5-3C33-5C04-EE00-AF35290D7C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5E5724-BF54-710D-F0DD-D96285735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205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A034F-B62A-60E7-1FF6-94E2B20A7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2F87AD-E671-689C-A3BC-E3F93AFB75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D93238-2B4C-839B-B035-F4A402258F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13C53D-81C4-F5FA-5B27-369A7017D6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0448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9DA18-790E-6D27-37AF-1181B5156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26701B-1CA4-9C2A-FEB3-6B376FF57B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1DF928-0F67-4FB1-3318-0309CC6FF1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7D7ED-70F8-0602-AD2F-7FC7237C91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307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8E4E6-27CC-53B1-17F1-EA3F1B5A6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928F8-F5C4-D148-8E92-025A7F3178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C0AECE-1322-D4A7-5FCF-E198FFB40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FCEE-E56A-4C18-ADE0-E83E1F051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11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0516A-6BB7-7BEC-89BB-6184EB520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702CC5-DD45-41C1-E7E1-B40969A528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4EF91A-D92C-0039-D93C-B85175DD91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7A4CE4-5103-920C-840B-3CFEBEA1F4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2034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49E6D-3233-83AF-3EEE-FDC53654D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A85487-C82E-6803-2D4F-867BC6D7E8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00CDA5-98BD-C4EF-62DF-4FD3389CF1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886B9-1AF2-4A49-4B43-363774845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7899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8802E-F80B-02E4-227A-B5E810834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B9D66E-88E2-6EB0-7824-56689ED4A5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68E258-D64A-EE79-9762-7D26E84617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35042C-E1BC-653C-668D-77554CAA27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8440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FD2D9-63EB-EC72-4B50-B8DFCFD9F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241A37-B24C-2F1A-57D4-092F0DD8D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6C42E1-CCFE-398F-423B-F299DFFBE7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221B77-B315-69AC-1943-7063C59A95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1994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795E6-DC9C-77E1-C168-93BC05EA2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F47124-3B18-5BCE-4E87-DEDEE7168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3EA6A5-6BE7-D0B5-A782-261078C28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368D3C-656C-C455-C826-D7E15129AE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830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64756-1853-5FA0-6510-CE8DBF392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15F75D-2FB9-E510-E3A7-D707F56126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DB99D4-E307-712C-9D2B-3786372B4C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A635CA-371E-FB21-9DAC-41C56B61D6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447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D6208-BBE8-A605-3CAA-41FFAA181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910EBB-4565-1EF2-9973-3AB51A5DBC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D727F3-E297-1F18-04D5-A3799B68B5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9D0A6B-0570-D9A3-806F-83C2A44C82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3572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A4242-9DE7-B102-50B5-1894415B9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1E081F-9537-B186-193C-59CD8EF28D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ADD712-D776-F1D2-14EA-FCB4DA71B7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D2D6DC-403F-600B-74B9-B3E93D7F49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0094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207FF-489C-D537-8231-CF5BC06A6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F504FB-8C89-1A0C-59B4-90E1F60F7D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924A5E-90C9-EF28-CCA5-043846276A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C96804-E047-E241-38F5-6D2B7F8630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2846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A95CE-1010-8890-2471-DEFC58444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6EFFE9-646C-F0B3-B3A4-1E520EF1B0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E54A5-8EBB-38DC-644F-A51AFDD1B5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01888-591B-7326-C42C-058CC15DBB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3273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AF164-0D57-A2C8-283F-C84C61DD9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AF801A-0A77-FEEE-1F62-1A59BB731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60BB99-0005-E513-29DC-C3F1215EEA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B19381-392C-A102-5C98-DAFFA964C4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1289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758C6-0C2E-9443-8FB1-74AA8F06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C10229-C572-78DD-FF19-19ED398905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910A09-DDCA-788B-CAA4-B8422EB0CB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840819-7630-5A46-9099-4E91D8171D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68565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D1EDF-D778-29AC-619C-179063228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E0EE0B-0748-B81F-668F-67DC8B31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ACDC32-4C09-AC88-85DD-C521901902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553E69-47EB-9AD9-E6B9-0C542C8837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3533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45EC6-275E-D859-0155-070700758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CC4598-191A-FC41-02C3-211294209A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61679B-4A29-83C6-4A87-76895F3837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70139-EFDE-CAFA-FEC2-02D783D138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15353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D2247-57A9-23D6-DB3A-09420FFD9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08702E-EFD8-2042-7A49-D4A21ADCEC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AAC83D-70D5-3551-4A3C-03ECB8D555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BF6DD2-1925-F458-2FB2-7D7E5C28C4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0654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84111-2874-9C1B-12F9-022F845E4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30BA65-6EE5-A2B3-399F-D5DFCEA030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37A03C-B850-AF42-7AF9-FB02F6E3FE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3BD237-AB96-3AD1-EF82-36DE272399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6191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50FE6-B51A-BFDF-FB8B-821426C87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CF59B1-91EB-C5CC-3FEC-CED277B810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961304-1F8C-3045-8E2C-AEC6E419BA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D2355E-10A5-2C07-E706-1CACD0D9E3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84121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7B12E-8C8F-B181-B6AD-41EF11281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19FDD6-5B27-0E1B-61A2-16153250A2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1D4DB9-3A8D-2A82-2203-A7DA5AEDA0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9363E3-B63A-BC4B-87E9-E83972896C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6392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93548-1BD3-5C25-7633-704DD161B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8239D5-8512-4665-C105-E81B6F69F7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4CF119-FB1D-044C-F0E9-E7A523E274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31040-2C15-9C7F-51A4-5645AFD717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54368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D71C8-1FE2-831A-FE3B-A1BE06303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04477-981A-556C-B0C7-58F5B8DEAE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FAB58D-B8BC-9EBB-A093-668FF78163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EF7C42-1FF3-B046-F876-3042877B87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98984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9F097-203D-534A-884C-21E3F62C1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B5D3E8-5824-1C7F-18F8-42AD395156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C32818-4212-9AB9-271E-FE4F927927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39114A-E150-1205-6675-E12DE51B26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99703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DFC99-2227-94E6-BEBA-155649E3A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3359F8-E97F-E8BF-7B96-226AD319A4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617BBE-D575-237A-BF3F-8A0900D5DD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4AF6ED-A2A0-BF62-8620-B6DFAE6C31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27880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86407-60C1-2DAA-1D2C-44132A06F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D876B3-3D10-2A9C-1D9C-6C898BB1D8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BF2037-715B-8B5E-9A6C-AC6FDF7B81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02F625-D484-E516-185D-844EA1094F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43649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31E52-7420-756E-81B5-EFD4990C6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B57209-D103-184B-FB51-3BDC9C353B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E8626D-1234-F898-A940-7B30CEFF8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A0BADB-254B-1AE5-91C3-89903A0BB9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43546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05C73-51C2-D2F5-6BAC-6718B27BF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743E18-AD70-F556-AE0E-C80B608CE1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46D51E-E26B-AA0B-024D-0EEA3B90E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A70634-ACCC-9F2A-B29E-173E6BA02D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19989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61AD6-A4FB-18D7-549A-E5C4CB7DD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25E56-1A91-5F39-FEA1-2A655540DF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181F59-F73E-F1FE-B9F8-9CE8D49136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BE4118-74BB-D9F8-0DF9-1A610C31BF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47577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87966-DDAE-225A-988D-17FCD0BF7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784528-22E7-DF99-0064-AFF5B7EB60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7BB514-CEC0-822F-B6CE-A932DE7B3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23EBE-A068-3A3D-4680-EF798C6C71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8273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-14064846" y="4229100"/>
            <a:ext cx="14064846" cy="13542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4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ĐỀ TÀI: XÂY DỰNG </a:t>
            </a:r>
            <a:r>
              <a:rPr lang="en-US" sz="44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ỨNG DỤNG WEB </a:t>
            </a:r>
          </a:p>
          <a:p>
            <a:pPr algn="ctr"/>
            <a:r>
              <a:rPr lang="en-US" sz="44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QUẢN LÝ PHÒNG KHÁM THÚ Y</a:t>
            </a:r>
            <a:endParaRPr lang="en-US" sz="3599" b="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7600F0-E768-46E3-B2C5-07CF27172810}"/>
              </a:ext>
            </a:extLst>
          </p:cNvPr>
          <p:cNvSpPr txBox="1"/>
          <p:nvPr/>
        </p:nvSpPr>
        <p:spPr>
          <a:xfrm>
            <a:off x="18211800" y="6743700"/>
            <a:ext cx="9220200" cy="1322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ts val="5039"/>
              </a:lnSpc>
              <a:defRPr/>
            </a:pPr>
            <a:r>
              <a:rPr lang="vi-VN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Giảng</a:t>
            </a:r>
            <a:r>
              <a:rPr lang="en-US" sz="3599" b="1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3599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viên</a:t>
            </a:r>
            <a:r>
              <a:rPr lang="en-US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99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99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dẫn</a:t>
            </a:r>
            <a:r>
              <a:rPr lang="en-US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3599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ThS</a:t>
            </a:r>
            <a:r>
              <a:rPr lang="en-US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Nguyễn Thị Lan</a:t>
            </a:r>
          </a:p>
          <a:p>
            <a:pPr lvl="0">
              <a:lnSpc>
                <a:spcPts val="5039"/>
              </a:lnSpc>
              <a:defRPr/>
            </a:pPr>
            <a:r>
              <a:rPr lang="en-US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</a:t>
            </a:r>
            <a:r>
              <a:rPr lang="en-US" sz="3599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viên</a:t>
            </a:r>
            <a:r>
              <a:rPr lang="en-US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99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99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3599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Trần</a:t>
            </a:r>
            <a:r>
              <a:rPr lang="en-US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Nguyễn Minh Hùng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AC026B8-677F-828F-54F9-2B7AE7CA320E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0E157B3-79BE-CADE-2A1A-934B4B661136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B2067ED-8EB6-6E59-BC8A-981A145183E5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9A8BD6B-80AC-6108-63DA-D5ED9E2482AA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6889627-AFDA-98BB-8B57-AFDD3F2C33F4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8AFAD781-582D-449C-9751-1ED260F49D7F}"/>
              </a:ext>
            </a:extLst>
          </p:cNvPr>
          <p:cNvSpPr txBox="1"/>
          <p:nvPr/>
        </p:nvSpPr>
        <p:spPr>
          <a:xfrm>
            <a:off x="-6525603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F45DABB-56D2-4982-9B57-CC079A6561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479710" y="0"/>
            <a:ext cx="954107" cy="954107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ECC93351-1136-41B5-841F-DFE45CC136C8}"/>
              </a:ext>
            </a:extLst>
          </p:cNvPr>
          <p:cNvSpPr/>
          <p:nvPr/>
        </p:nvSpPr>
        <p:spPr>
          <a:xfrm>
            <a:off x="18443316" y="-4821"/>
            <a:ext cx="954107" cy="957984"/>
          </a:xfrm>
          <a:prstGeom prst="ellipse">
            <a:avLst/>
          </a:prstGeom>
          <a:blipFill dpi="0"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7374624-9379-7BB0-3E57-C6FD8F6A020F}"/>
              </a:ext>
            </a:extLst>
          </p:cNvPr>
          <p:cNvSpPr/>
          <p:nvPr/>
        </p:nvSpPr>
        <p:spPr>
          <a:xfrm>
            <a:off x="-3810000" y="1186006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5289458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3455 -0.01343 L 0.88455 -0.00895 L 0.88455 -0.00911 " pathEditMode="relative" rAng="0" ptsTypes="AAA">
                                      <p:cBhvr>
                                        <p:cTn id="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2500" y="21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17 0.00216 L -0.34288 0.00216 L -0.34132 0.00216 " pathEditMode="relative" rAng="0" ptsTypes="AAA">
                                      <p:cBhvr>
                                        <p:cTn id="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936" y="0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-2.22222E-6 L -0.57709 -0.00447 " pathEditMode="relative" rAng="0" ptsTypes="AA">
                                      <p:cBhvr>
                                        <p:cTn id="10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8750" y="-355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88889E-6 -0.00633 L 0.68299 -0.00201 L 0.68299 -0.00185 " pathEditMode="relative" rAng="0" ptsTypes="AAA">
                                      <p:cBhvr>
                                        <p:cTn id="12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4149" y="216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6 -0.00263 L 0.68247 0.00169 L 0.68247 0.00185 " pathEditMode="relative" rAng="0" ptsTypes="AAA">
                                      <p:cBhvr>
                                        <p:cTn id="1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4358" y="2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8" grpId="0"/>
      <p:bldP spid="21" grpId="0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55487-134B-EB0B-1C14-F0052CAA6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CBA7EBCD-4D83-67C1-05BF-8561BE1CBE50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BF5D183-73BD-2851-C291-6CC318FD43D2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1096093-5EDC-701F-596A-6D6CEDF56488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A2FECF-9505-EACB-BA00-3ADFF46DAB54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B732BCE-0019-61E6-55A9-1EDA2325C931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930DC3-018D-0A70-A2F3-1B1795F93931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0" name="Oval 9">
            <a:extLst>
              <a:ext uri="{FF2B5EF4-FFF2-40B4-BE49-F238E27FC236}">
                <a16:creationId xmlns:a16="http://schemas.microsoft.com/office/drawing/2014/main" id="{44323E8B-550C-3898-5082-3B6F99926E32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A41488-65F7-A942-2441-A8D660BAD276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AA28652-0430-24C4-AC24-71783F02ADB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37" name="Rectangle 36">
            <a:extLst>
              <a:ext uri="{FF2B5EF4-FFF2-40B4-BE49-F238E27FC236}">
                <a16:creationId xmlns:a16="http://schemas.microsoft.com/office/drawing/2014/main" id="{BAC49CAF-BFCF-A585-E719-55357143B2B8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26BDC8E-EFA9-9D35-56DA-C03BB715C951}"/>
              </a:ext>
            </a:extLst>
          </p:cNvPr>
          <p:cNvSpPr/>
          <p:nvPr/>
        </p:nvSpPr>
        <p:spPr>
          <a:xfrm>
            <a:off x="135604" y="1238793"/>
            <a:ext cx="35052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6F89F3-CA9F-4A4B-BF5E-9C7CAA481DB1}"/>
              </a:ext>
            </a:extLst>
          </p:cNvPr>
          <p:cNvSpPr txBox="1"/>
          <p:nvPr/>
        </p:nvSpPr>
        <p:spPr>
          <a:xfrm>
            <a:off x="288004" y="1325218"/>
            <a:ext cx="3200400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8A09A1-4DA2-45F5-9982-63A32F0E5FFF}"/>
              </a:ext>
            </a:extLst>
          </p:cNvPr>
          <p:cNvSpPr txBox="1"/>
          <p:nvPr/>
        </p:nvSpPr>
        <p:spPr>
          <a:xfrm>
            <a:off x="3810000" y="2412254"/>
            <a:ext cx="140970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</p:spTree>
    <p:extLst>
      <p:ext uri="{BB962C8B-B14F-4D97-AF65-F5344CB8AC3E}">
        <p14:creationId xmlns:p14="http://schemas.microsoft.com/office/powerpoint/2010/main" val="29567756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A4EBF-848B-CD35-E5FF-5AD78B3C7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7FE78BE5-793B-45C5-0CA5-AD04DFE5D070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A091E8C-3173-D917-1610-9FB9936AAA0C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13C754D-30D3-46D4-EB09-E7C8403FD862}"/>
              </a:ext>
            </a:extLst>
          </p:cNvPr>
          <p:cNvSpPr/>
          <p:nvPr/>
        </p:nvSpPr>
        <p:spPr>
          <a:xfrm>
            <a:off x="3886200" y="2622850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DB90ED-8C6D-FD06-E956-EFB7BA508E1E}"/>
              </a:ext>
            </a:extLst>
          </p:cNvPr>
          <p:cNvSpPr txBox="1"/>
          <p:nvPr/>
        </p:nvSpPr>
        <p:spPr>
          <a:xfrm>
            <a:off x="288004" y="1325218"/>
            <a:ext cx="3217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B53F9EA-2C2E-1BD0-DC34-570B76CAD037}"/>
              </a:ext>
            </a:extLst>
          </p:cNvPr>
          <p:cNvSpPr txBox="1"/>
          <p:nvPr/>
        </p:nvSpPr>
        <p:spPr>
          <a:xfrm>
            <a:off x="3810000" y="2412254"/>
            <a:ext cx="117348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D7CC3CA-F995-37F3-51ED-0070158491DD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4DD3133-F0FA-0C5C-5571-3D9B11C5D9BB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CB8A6D4-71B1-62F5-F972-106057A72311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DEA7CC2-BD02-F1DA-59BC-52BB7EC3455D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6968A94-A7C4-2297-5495-B20CC1C458BD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49EC31AE-24E0-00A1-BB5E-357782ABA6AA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7E20473-0DB9-A9B6-E0EE-CBE244DF197B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263C9D12-FA8F-D809-139E-3F13D1018DA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748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B1181D8B-A9BA-FDE1-9E5B-6F7F099D7C84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72F0ED0-3633-4CA8-BFCB-D2F4063A6794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F845C3E-1D8A-82E7-221C-7E3CF778C04A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D6E342A1-914A-4169-B59E-75A853E491F8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6C1A25-E1C9-47AA-B661-4754C6B2B62A}"/>
              </a:ext>
            </a:extLst>
          </p:cNvPr>
          <p:cNvSpPr txBox="1"/>
          <p:nvPr/>
        </p:nvSpPr>
        <p:spPr>
          <a:xfrm>
            <a:off x="762000" y="5697319"/>
            <a:ext cx="228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 Đặt vấn đề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56F9AC-8221-498D-BA62-7BE8C782B142}"/>
              </a:ext>
            </a:extLst>
          </p:cNvPr>
          <p:cNvSpPr txBox="1"/>
          <p:nvPr/>
        </p:nvSpPr>
        <p:spPr>
          <a:xfrm>
            <a:off x="3810000" y="2453830"/>
            <a:ext cx="14249400" cy="58516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vi-VN" sz="3200" dirty="0">
                <a:latin typeface="+mj-lt"/>
              </a:rPr>
              <a:t>Kinh tế số phát triển kéo theo nhu cầu chăm sóc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đẹp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trị</a:t>
            </a:r>
            <a:r>
              <a:rPr lang="en-US" sz="3200" dirty="0">
                <a:latin typeface="+mj-lt"/>
              </a:rPr>
              <a:t> </a:t>
            </a:r>
            <a:r>
              <a:rPr lang="vi-VN" sz="3200" dirty="0">
                <a:latin typeface="+mj-lt"/>
              </a:rPr>
              <a:t>cho thú cưng tăng mạnh.</a:t>
            </a:r>
            <a:endParaRPr lang="en-US" sz="3200" dirty="0">
              <a:latin typeface="+mj-lt"/>
            </a:endParaRP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phòng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vẫn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đang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vận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thủ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liên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khó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dõi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vụ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lịch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khám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0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=&gt;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Dẫn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sự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liên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phối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nhân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sự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khó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soát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doanh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thu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0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=&gt;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“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phòng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thú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y”.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6373B4-9F3A-197E-1C03-C2750DB2570F}"/>
              </a:ext>
            </a:extLst>
          </p:cNvPr>
          <p:cNvSpPr txBox="1"/>
          <p:nvPr/>
        </p:nvSpPr>
        <p:spPr>
          <a:xfrm>
            <a:off x="3858223" y="1463633"/>
            <a:ext cx="33211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GIỚI THIỆU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8562149-C21D-F280-50E1-FEE2B092765C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477C0DD-BC58-73E7-4542-11449E1A6C51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C9481650-D3AA-CAED-76C6-8921E2DE847F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E7B8E238-8172-403E-8A9F-E37A8D05799F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7B7CEB0C-BAED-5BB0-0DDF-D530DBA421F5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DB235D1F-6BE1-5C40-AE4D-BEA063A58999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C7E9D25-FA50-84F8-9CED-590B2D0B932E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CC226E53-0A1C-40C7-3C3F-A4EB2324D88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A38F54F0-A809-7969-47EC-2A7496550F1A}"/>
              </a:ext>
            </a:extLst>
          </p:cNvPr>
          <p:cNvSpPr/>
          <p:nvPr/>
        </p:nvSpPr>
        <p:spPr>
          <a:xfrm>
            <a:off x="-19050" y="10287000"/>
            <a:ext cx="3810000" cy="5136005"/>
          </a:xfrm>
          <a:prstGeom prst="rect">
            <a:avLst/>
          </a:prstGeom>
          <a:solidFill>
            <a:srgbClr val="A3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103472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FB636-4512-4289-B916-84A204BF7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76120C2E-FA40-440C-B4F4-15E188BEE433}"/>
              </a:ext>
            </a:extLst>
          </p:cNvPr>
          <p:cNvSpPr/>
          <p:nvPr/>
        </p:nvSpPr>
        <p:spPr>
          <a:xfrm>
            <a:off x="0" y="5150995"/>
            <a:ext cx="3810000" cy="5136005"/>
          </a:xfrm>
          <a:prstGeom prst="rect">
            <a:avLst/>
          </a:prstGeom>
          <a:solidFill>
            <a:srgbClr val="A3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852F6B0-7793-17B8-3D18-2F43867A4379}"/>
              </a:ext>
            </a:extLst>
          </p:cNvPr>
          <p:cNvSpPr/>
          <p:nvPr/>
        </p:nvSpPr>
        <p:spPr>
          <a:xfrm>
            <a:off x="0" y="2400299"/>
            <a:ext cx="3810000" cy="2749749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A9A554-B603-48E9-FDCF-3FF6F085AD8F}"/>
              </a:ext>
            </a:extLst>
          </p:cNvPr>
          <p:cNvSpPr txBox="1"/>
          <p:nvPr/>
        </p:nvSpPr>
        <p:spPr>
          <a:xfrm>
            <a:off x="864705" y="3439900"/>
            <a:ext cx="19812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Mục đích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E9D2AF-010B-CCC6-2C94-4EBD65BB3EA9}"/>
              </a:ext>
            </a:extLst>
          </p:cNvPr>
          <p:cNvSpPr txBox="1"/>
          <p:nvPr/>
        </p:nvSpPr>
        <p:spPr>
          <a:xfrm>
            <a:off x="864705" y="7401819"/>
            <a:ext cx="1752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Yêu cầu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E87176E6-85B2-3657-D831-9DD5B18C056A}"/>
              </a:ext>
            </a:extLst>
          </p:cNvPr>
          <p:cNvSpPr txBox="1"/>
          <p:nvPr/>
        </p:nvSpPr>
        <p:spPr>
          <a:xfrm>
            <a:off x="3858223" y="2488700"/>
            <a:ext cx="14201178" cy="25994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indent="457200" algn="just">
              <a:lnSpc>
                <a:spcPct val="130000"/>
              </a:lnSpc>
              <a:spcAft>
                <a:spcPts val="800"/>
              </a:spcAft>
            </a:pP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Tiến hành nghiên cứu và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vận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dụng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công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nghệ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hiện đại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để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xây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dựng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một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web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phòng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thú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y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thông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minh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 </a:t>
            </a:r>
          </a:p>
          <a:p>
            <a:pPr indent="457200" algn="just">
              <a:lnSpc>
                <a:spcPct val="130000"/>
              </a:lnSpc>
              <a:spcAft>
                <a:spcPts val="800"/>
              </a:spcAft>
            </a:pP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Mục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tiêu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cốt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lõi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là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số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hóa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quy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trình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vận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hành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giúp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phòng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nâng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cao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hiệu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quả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mang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lại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trải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nghiệm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đặt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sử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dụng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vụ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tiện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lợi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nhất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cho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1D4500-9AAE-93DB-584C-32F5D50386AF}"/>
              </a:ext>
            </a:extLst>
          </p:cNvPr>
          <p:cNvSpPr txBox="1"/>
          <p:nvPr/>
        </p:nvSpPr>
        <p:spPr>
          <a:xfrm>
            <a:off x="3794760" y="6640707"/>
            <a:ext cx="1424940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indent="457200" algn="just"/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phải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tự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động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hóa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luồng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nghiệp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vụ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đáp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ứng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đầy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đủ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tính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năng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cho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4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nhóm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đối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tượng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gồm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: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lễ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tân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bác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sĩ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trị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viên</a:t>
            </a:r>
            <a:endParaRPr lang="vi-VN" sz="3200" dirty="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5C40E9-0CB4-C3CA-71A5-3BCF2AAE48E0}"/>
              </a:ext>
            </a:extLst>
          </p:cNvPr>
          <p:cNvCxnSpPr/>
          <p:nvPr/>
        </p:nvCxnSpPr>
        <p:spPr>
          <a:xfrm>
            <a:off x="5041757" y="5150995"/>
            <a:ext cx="1020406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ED20D53-AF62-87B4-4BC8-C3E200391E73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C2F8B75-33A2-5D63-F0B4-182CD3975014}"/>
                </a:ext>
              </a:extLst>
            </p:cNvPr>
            <p:cNvGrpSpPr/>
            <p:nvPr/>
          </p:nvGrpSpPr>
          <p:grpSpPr>
            <a:xfrm>
              <a:off x="0" y="0"/>
              <a:ext cx="18360000" cy="1188944"/>
              <a:chOff x="0" y="0"/>
              <a:chExt cx="18360000" cy="1188944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5AA3526A-C906-0887-5A86-E0C9C40D00C0}"/>
                  </a:ext>
                </a:extLst>
              </p:cNvPr>
              <p:cNvSpPr/>
              <p:nvPr/>
            </p:nvSpPr>
            <p:spPr>
              <a:xfrm>
                <a:off x="0" y="0"/>
                <a:ext cx="18360000" cy="1188000"/>
              </a:xfrm>
              <a:prstGeom prst="rect">
                <a:avLst/>
              </a:prstGeom>
              <a:solidFill>
                <a:srgbClr val="E6E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05733A5-DB99-80D0-2304-27223948790E}"/>
                  </a:ext>
                </a:extLst>
              </p:cNvPr>
              <p:cNvSpPr/>
              <p:nvPr/>
            </p:nvSpPr>
            <p:spPr>
              <a:xfrm>
                <a:off x="0" y="1116944"/>
                <a:ext cx="18360000" cy="72000"/>
              </a:xfrm>
              <a:prstGeom prst="rect">
                <a:avLst/>
              </a:prstGeom>
              <a:solidFill>
                <a:srgbClr val="583F3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F9A8D0AB-CB1F-B0B9-A5C4-B8B6B29D257A}"/>
                  </a:ext>
                </a:extLst>
              </p:cNvPr>
              <p:cNvSpPr/>
              <p:nvPr/>
            </p:nvSpPr>
            <p:spPr>
              <a:xfrm>
                <a:off x="0" y="1045887"/>
                <a:ext cx="18360000" cy="72000"/>
              </a:xfrm>
              <a:prstGeom prst="rect">
                <a:avLst/>
              </a:prstGeom>
              <a:solidFill>
                <a:srgbClr val="007A4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357205C9-129B-1878-C14E-D6700F078089}"/>
                  </a:ext>
                </a:extLst>
              </p:cNvPr>
              <p:cNvSpPr/>
              <p:nvPr/>
            </p:nvSpPr>
            <p:spPr>
              <a:xfrm>
                <a:off x="0" y="976498"/>
                <a:ext cx="18360000" cy="72000"/>
              </a:xfrm>
              <a:prstGeom prst="rect">
                <a:avLst/>
              </a:prstGeom>
              <a:solidFill>
                <a:srgbClr val="FCAF1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</p:grp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38B4483E-F0BC-B246-F49E-9489EDA07EA9}"/>
                </a:ext>
              </a:extLst>
            </p:cNvPr>
            <p:cNvSpPr/>
            <p:nvPr/>
          </p:nvSpPr>
          <p:spPr>
            <a:xfrm>
              <a:off x="12335113" y="5574"/>
              <a:ext cx="954107" cy="957984"/>
            </a:xfrm>
            <a:prstGeom prst="ellipse">
              <a:avLst/>
            </a:prstGeom>
            <a:blipFill dpi="0"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uli Bold" panose="020B060402020202020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52BD86-C8CA-A681-545C-EAF958049026}"/>
                </a:ext>
              </a:extLst>
            </p:cNvPr>
            <p:cNvSpPr txBox="1"/>
            <p:nvPr/>
          </p:nvSpPr>
          <p:spPr>
            <a:xfrm>
              <a:off x="5976814" y="0"/>
              <a:ext cx="6358299" cy="10310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rgbClr val="583F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HỌC VIỆN NÔNG NGHIỆP VIỆT NAM</a:t>
              </a:r>
            </a:p>
            <a:p>
              <a:pPr algn="ctr">
                <a:spcBef>
                  <a:spcPts val="600"/>
                </a:spcBef>
              </a:pPr>
              <a:r>
                <a:rPr lang="en-US" sz="2800" b="1" dirty="0">
                  <a:solidFill>
                    <a:srgbClr val="583F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KHOA CÔNG NGHỆ THÔNG TIN</a:t>
              </a:r>
            </a:p>
          </p:txBody>
        </p:sp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2C42FD78-0B0A-00B2-9DD4-DE99B6C173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41757" y="8464"/>
              <a:ext cx="954107" cy="954107"/>
            </a:xfrm>
            <a:prstGeom prst="rect">
              <a:avLst/>
            </a:prstGeom>
          </p:spPr>
        </p:pic>
      </p:grpSp>
      <p:sp>
        <p:nvSpPr>
          <p:cNvPr id="51" name="Rectangle 50">
            <a:extLst>
              <a:ext uri="{FF2B5EF4-FFF2-40B4-BE49-F238E27FC236}">
                <a16:creationId xmlns:a16="http://schemas.microsoft.com/office/drawing/2014/main" id="{51BEAAD8-A270-554D-CE62-750265668415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41533482-7773-7F63-B51F-FB1B2F843DF8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4B2B7B0-2A00-6C52-08F4-0808EA0973FC}"/>
              </a:ext>
            </a:extLst>
          </p:cNvPr>
          <p:cNvSpPr txBox="1"/>
          <p:nvPr/>
        </p:nvSpPr>
        <p:spPr>
          <a:xfrm>
            <a:off x="3858223" y="1463633"/>
            <a:ext cx="33211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GIỚI THIỆU</a:t>
            </a:r>
          </a:p>
        </p:txBody>
      </p:sp>
    </p:spTree>
    <p:extLst>
      <p:ext uri="{BB962C8B-B14F-4D97-AF65-F5344CB8AC3E}">
        <p14:creationId xmlns:p14="http://schemas.microsoft.com/office/powerpoint/2010/main" val="2387200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E46B9-A6CE-E2D9-EB6C-D8D055173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67159ABA-508E-C736-7CE5-C829B7FA6A65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B17EE4F-6CDF-C2E3-6FDC-E95813CD829F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5A61425-B101-8DA6-430E-6D70870A31DB}"/>
              </a:ext>
            </a:extLst>
          </p:cNvPr>
          <p:cNvSpPr/>
          <p:nvPr/>
        </p:nvSpPr>
        <p:spPr>
          <a:xfrm>
            <a:off x="3886200" y="2622850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3ED775B-E31D-C808-158B-F181E74647CD}"/>
              </a:ext>
            </a:extLst>
          </p:cNvPr>
          <p:cNvSpPr txBox="1"/>
          <p:nvPr/>
        </p:nvSpPr>
        <p:spPr>
          <a:xfrm>
            <a:off x="288004" y="1325218"/>
            <a:ext cx="3217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4094A3-C39F-9C4B-D06F-562A7BFCE7E5}"/>
              </a:ext>
            </a:extLst>
          </p:cNvPr>
          <p:cNvSpPr txBox="1"/>
          <p:nvPr/>
        </p:nvSpPr>
        <p:spPr>
          <a:xfrm>
            <a:off x="3810000" y="2412254"/>
            <a:ext cx="117348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7A9C706-5B35-785E-574F-0D5D068B721E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A97263C-529E-58E3-4AAB-4F491C62503B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0B5CC90-6D36-99F6-B4B9-704060C8ECF1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4EBA779-E666-398F-9D55-94BDD727C492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29EA114-CB74-AB03-86FD-8A2CD717689B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9E7C6DDC-FEE4-449D-32BC-F0E47EACD753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184C48-E4D9-9C06-7243-A320C7464EF7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8C3B5862-5E0D-85A4-5EA9-E5875877A6A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5197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CA64D-173E-B4DE-65A3-94CCC6726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C4B67823-FA9C-1DAB-0DA5-50C0A1004FCB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7902C54-2963-E88B-35D8-B7FD3C21CD99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9C6CE53-E926-36B9-6148-2626670C565C}"/>
              </a:ext>
            </a:extLst>
          </p:cNvPr>
          <p:cNvSpPr/>
          <p:nvPr/>
        </p:nvSpPr>
        <p:spPr>
          <a:xfrm>
            <a:off x="3886200" y="3695700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3C4C68-0523-30B6-4756-FDA259CF19FB}"/>
              </a:ext>
            </a:extLst>
          </p:cNvPr>
          <p:cNvSpPr txBox="1"/>
          <p:nvPr/>
        </p:nvSpPr>
        <p:spPr>
          <a:xfrm>
            <a:off x="288004" y="1325218"/>
            <a:ext cx="3217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8303A-FFCD-588F-73A1-5FE69E19F370}"/>
              </a:ext>
            </a:extLst>
          </p:cNvPr>
          <p:cNvSpPr txBox="1"/>
          <p:nvPr/>
        </p:nvSpPr>
        <p:spPr>
          <a:xfrm>
            <a:off x="3810000" y="2412254"/>
            <a:ext cx="117348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92DF14A-609D-BD96-58E8-0C252072B8C1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5FCCC40-A365-68FD-9425-7CC4E5DD300F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82BED92B-159E-9047-3C6F-799E499C636B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A35B4B3-B5A3-C58A-12B0-1B3035E55C40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C6ABABF-A683-3241-EE2D-2197F64B3ACA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2A8CBC7A-B6F0-C18C-3A5F-BCC33AC73633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22F0E52-25F8-D440-CD44-DDBE29D376B4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BE12268-0430-2B05-0293-40C51120EBB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5337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97008A-EF23-78C1-7B66-3214A3CFF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DF208607-1E15-009E-BF63-0586C9371F21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4D30A807-C999-BF51-4304-E65E9D01F9E1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90CCF0E-9A6C-088D-35BF-186600BA3775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355E6D72-8210-C626-9C17-9DCA75DD30B5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F87701-413D-7F54-24E4-6BAAA8DDF363}"/>
              </a:ext>
            </a:extLst>
          </p:cNvPr>
          <p:cNvSpPr txBox="1"/>
          <p:nvPr/>
        </p:nvSpPr>
        <p:spPr>
          <a:xfrm>
            <a:off x="762000" y="5697319"/>
            <a:ext cx="2362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>
                <a:latin typeface="Times New Roman" panose="02020603050405020304" pitchFamily="18" charset="0"/>
                <a:cs typeface="Times New Roman" panose="02020603050405020304" pitchFamily="18" charset="0"/>
              </a:rPr>
              <a:t>Trong nước</a:t>
            </a:r>
            <a:endParaRPr lang="en-US" sz="3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B880925-57D4-1F74-1AC8-05398DDF8E5C}"/>
              </a:ext>
            </a:extLst>
          </p:cNvPr>
          <p:cNvSpPr txBox="1"/>
          <p:nvPr/>
        </p:nvSpPr>
        <p:spPr>
          <a:xfrm>
            <a:off x="3886200" y="3342828"/>
            <a:ext cx="1424940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Các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phòng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thú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Việt Nam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bắt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mềm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lịch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khai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chi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phí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thấp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phù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vừa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nhỏ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Tuy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nhiên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còn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rời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rạc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ích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tuyến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Đây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sở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phòng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thú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đại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mở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rộng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alt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FD5CB9-6E00-CDFA-5522-61B4CECEE619}"/>
              </a:ext>
            </a:extLst>
          </p:cNvPr>
          <p:cNvSpPr txBox="1"/>
          <p:nvPr/>
        </p:nvSpPr>
        <p:spPr>
          <a:xfrm>
            <a:off x="3858222" y="1463633"/>
            <a:ext cx="114579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TÌNH HÌNH NGHIÊN CỨU TRONG VÀ NGOÀI NƯỚC</a:t>
            </a:r>
            <a:endParaRPr lang="en-US" sz="3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9378FA1B-22E6-691A-7353-0E95A8E0425C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DF998919-F2DF-E08F-7D47-BBD9A82A0AC2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DDA785B4-B796-4E2B-B78A-41145628A0E5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7A2D5E5-8139-AF09-0DE5-E62DF473D4C6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D022026E-40D1-BF53-BED1-A1423AD7034F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5FC7E4EB-D941-4FA4-86F9-B608960E722E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DE4A42D-9EA0-8D13-6F90-4266180FA319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B217F375-98A5-244E-3B72-B4EA78A5CEE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7607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41B82-2CF1-311C-2482-066AB1550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C5F220DC-C62D-8033-9426-4F3071AEEB55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BE2112D1-94AF-524D-EAB1-80F743890699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7775189-9342-43BA-81BB-8DB12316FDF1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4D106601-ADDC-8F94-1A21-E47D3A394543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1E55BE-D96D-6FC1-B2F0-444DDA46AA32}"/>
              </a:ext>
            </a:extLst>
          </p:cNvPr>
          <p:cNvSpPr txBox="1"/>
          <p:nvPr/>
        </p:nvSpPr>
        <p:spPr>
          <a:xfrm>
            <a:off x="762000" y="5697319"/>
            <a:ext cx="2514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>
                <a:latin typeface="Times New Roman" panose="02020603050405020304" pitchFamily="18" charset="0"/>
                <a:cs typeface="Times New Roman" panose="02020603050405020304" pitchFamily="18" charset="0"/>
              </a:rPr>
              <a:t>Ngoài nước</a:t>
            </a:r>
            <a:endParaRPr lang="en-US" sz="3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3249D0-548A-C088-22E4-5515DDCE8256}"/>
              </a:ext>
            </a:extLst>
          </p:cNvPr>
          <p:cNvSpPr txBox="1"/>
          <p:nvPr/>
        </p:nvSpPr>
        <p:spPr>
          <a:xfrm>
            <a:off x="3810000" y="3188131"/>
            <a:ext cx="14249400" cy="58611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pt-BR" sz="32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	Trên thế giới, các hệ thống phòng khám thú y trực tuyến đang được ứng dụng rộng rãi tại các quốc gia có ngành thú y phát triển (Mỹ, Úc, Anh,...), tích hợp toàn diện giữa quản lý nội bộ và tiện ích trực tuyến cho khách hàng (Đặt lịch, nhắc lịch, thanh toán). </a:t>
            </a:r>
            <a:r>
              <a:rPr lang="vi-VN" sz="3200" dirty="0">
                <a:latin typeface="+mj-lt"/>
              </a:rPr>
              <a:t>Sự đồng bộ dữ liệu theo thời gian thực giúp duy trì sợi dây liên kết liên tục giữa bác sĩ thú y và người nuôi. Khách hàng hoàn toàn chủ động theo dõi lịch sử y tế của thú cưng mọi lúc, mọi nơi thông qua nền tảng web hoặc ứng dụng di động</a:t>
            </a:r>
            <a:endParaRPr lang="en-US" sz="3200" dirty="0">
              <a:latin typeface="+mj-lt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218F22-29B4-19AB-84F3-0AFD1B5E185C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TÌNH HÌNH NGHIÊN CỨU TRONG VÀ NGOÀI NƯỚC</a:t>
            </a:r>
            <a:endParaRPr lang="en-US" sz="3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6E11FE6-85F6-3788-F7D3-8246D19E97CB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1C10372-06A5-A274-CD74-CC56B1735C92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4B480615-C59F-D227-08E9-DE7F3E35949B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92411EFF-021C-D234-DAC4-70B9DAD601C6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9840088D-EB62-92DE-67BB-0830E08FA3B1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CFDC6A27-0CC8-F0FF-4F7A-5ADA5A668AE9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52C96C0-D233-F632-AACC-998CD662AE45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55F3867A-AC1D-681F-A05C-A89242CE185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3324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D30A3-DD8B-78E0-7716-A7CC8D075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5E2F5734-76CF-18F4-BEE7-4F9CC0305CF1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0602AB4E-46B2-2B4D-0D96-19CA77B955E4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2CD359A-FFF8-9E95-EF3F-7FF81B4BF7A4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5C4F707A-EFB0-B442-7E62-A3568FD2869F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761753-8EE8-786F-E473-FD501DD338AD}"/>
              </a:ext>
            </a:extLst>
          </p:cNvPr>
          <p:cNvSpPr txBox="1"/>
          <p:nvPr/>
        </p:nvSpPr>
        <p:spPr>
          <a:xfrm>
            <a:off x="762000" y="5697319"/>
            <a:ext cx="289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Một số trang web phổ biến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386072-3CDB-F8EA-B4DD-9417063F3651}"/>
              </a:ext>
            </a:extLst>
          </p:cNvPr>
          <p:cNvSpPr txBox="1"/>
          <p:nvPr/>
        </p:nvSpPr>
        <p:spPr>
          <a:xfrm>
            <a:off x="3800475" y="4000500"/>
            <a:ext cx="14249400" cy="43824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Bệnh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viện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thú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y VNUA</a:t>
            </a:r>
            <a:r>
              <a:rPr lang="vi-VN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(</a:t>
            </a:r>
            <a:r>
              <a:rPr lang="vi-VN" sz="3200" u="sng" dirty="0">
                <a:solidFill>
                  <a:srgbClr val="0000FF"/>
                </a:solidFill>
                <a:latin typeface="Times New Roman" panose="02020603050405020304" pitchFamily="18" charset="0"/>
                <a:ea typeface="SimSun" panose="02010600030101010101" pitchFamily="2" charset="-122"/>
              </a:rPr>
              <a:t>https://vethospital.vnua.edu.vn/</a:t>
            </a:r>
            <a:r>
              <a:rPr lang="vi-VN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)</a:t>
            </a:r>
            <a:endParaRPr lang="en-US" sz="3200" b="1" dirty="0"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457200" indent="-457200" algn="just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PetHealth</a:t>
            </a:r>
            <a:r>
              <a:rPr lang="vi-VN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(</a:t>
            </a:r>
            <a:r>
              <a:rPr lang="vi-VN" sz="3200" u="sng" dirty="0">
                <a:solidFill>
                  <a:srgbClr val="0000FF"/>
                </a:solidFill>
                <a:latin typeface="Times New Roman" panose="02020603050405020304" pitchFamily="18" charset="0"/>
                <a:ea typeface="SimSun" panose="02010600030101010101" pitchFamily="2" charset="-122"/>
              </a:rPr>
              <a:t>https://pethealth.vn/</a:t>
            </a:r>
            <a:r>
              <a:rPr lang="vi-VN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endParaRPr lang="en-US" sz="3200" b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indent="-457200" algn="just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2VET</a:t>
            </a:r>
            <a:r>
              <a:rPr lang="vi-VN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(</a:t>
            </a:r>
            <a:r>
              <a:rPr lang="vi-VN" sz="3200" u="sng" dirty="0">
                <a:solidFill>
                  <a:srgbClr val="0000FF"/>
                </a:solidFill>
                <a:latin typeface="Times New Roman" panose="02020603050405020304" pitchFamily="18" charset="0"/>
                <a:ea typeface="SimSun" panose="02010600030101010101" pitchFamily="2" charset="-122"/>
              </a:rPr>
              <a:t>https://2vet.vn/</a:t>
            </a:r>
            <a:r>
              <a:rPr lang="vi-VN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indent="-457200" algn="just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pt-BR" sz="32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Tropicpet</a:t>
            </a:r>
            <a:r>
              <a:rPr lang="pt-BR" sz="32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(</a:t>
            </a:r>
            <a:r>
              <a:rPr lang="pt-BR" sz="3200" u="sng" dirty="0">
                <a:solidFill>
                  <a:srgbClr val="0000FF"/>
                </a:solidFill>
                <a:latin typeface="Times New Roman" panose="02020603050405020304" pitchFamily="18" charset="0"/>
                <a:ea typeface="SimSun" panose="02010600030101010101" pitchFamily="2" charset="-122"/>
              </a:rPr>
              <a:t>https://tropicpet.vn/</a:t>
            </a:r>
            <a:r>
              <a:rPr lang="pt-BR" sz="32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</a:p>
          <a:p>
            <a:pPr marL="457200" indent="-457200" algn="just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pt-BR" sz="32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Pet Mart (</a:t>
            </a:r>
            <a:r>
              <a:rPr lang="pt-BR" sz="3200" u="sng" dirty="0">
                <a:solidFill>
                  <a:srgbClr val="0000FF"/>
                </a:solidFill>
                <a:latin typeface="Times New Roman" panose="02020603050405020304" pitchFamily="18" charset="0"/>
                <a:ea typeface="SimSun" panose="02010600030101010101" pitchFamily="2" charset="-122"/>
              </a:rPr>
              <a:t>https://www.petmart.vn/</a:t>
            </a:r>
            <a:r>
              <a:rPr lang="pt-BR" sz="32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</a:p>
          <a:p>
            <a:pPr marL="457200" indent="-457200" algn="just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Sakura</a:t>
            </a: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(</a:t>
            </a:r>
            <a:r>
              <a:rPr lang="vi-VN" sz="3200" u="sng" dirty="0">
                <a:solidFill>
                  <a:srgbClr val="0000FF"/>
                </a:solidFill>
                <a:latin typeface="Times New Roman" panose="02020603050405020304" pitchFamily="18" charset="0"/>
                <a:ea typeface="SimSun" panose="02010600030101010101" pitchFamily="2" charset="-122"/>
              </a:rPr>
              <a:t>https://sakurapetclinic.vn/</a:t>
            </a: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endParaRPr lang="en-US" sz="3200" u="sng" dirty="0">
              <a:solidFill>
                <a:srgbClr val="0000FF"/>
              </a:solidFill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215595B-DEB8-CB9F-2A19-43A22928AFD7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B6E64CF5-89F9-1FEC-61B7-59EBF7D66FC0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5F65CD4A-2B94-3A61-F176-F6099993792B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5C64A6A-8042-EA7B-135B-6AD56E84FB5B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06A73A9B-3148-D2A7-EBE7-25E5A4E9368D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CA26C34D-1937-F5B9-A4C4-23C0D71C6AF9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F2A406E-B76F-B954-E1F9-DC5BF919483E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FC00464D-1337-CB52-DDF5-75C9E0A736A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2786C85-CD01-4C93-E386-56DA706353B7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TÌNH HÌNH NGHIÊN CỨU TRONG VÀ NGOÀI NƯỚC</a:t>
            </a:r>
            <a:endParaRPr lang="en-US" sz="3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95694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C5086-36BF-5A97-B81F-4421FEAF9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2F913D05-46C0-7966-B0C7-EE569A1A9798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E1D9BA36-A75F-CA1A-9639-FDBA4912A952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088C2C2-06A8-C2EC-1351-B93E037053C1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D2221980-C5DC-1001-7E44-BDAE28EE52F6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639F6E-93A9-1F42-B6B1-7719B219D72D}"/>
              </a:ext>
            </a:extLst>
          </p:cNvPr>
          <p:cNvSpPr txBox="1"/>
          <p:nvPr/>
        </p:nvSpPr>
        <p:spPr>
          <a:xfrm>
            <a:off x="685800" y="5466487"/>
            <a:ext cx="302895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Tính thời sự, tầm quan trọng của đề tài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6C44E7-26E3-9E50-2A00-92755336CC5C}"/>
              </a:ext>
            </a:extLst>
          </p:cNvPr>
          <p:cNvSpPr txBox="1"/>
          <p:nvPr/>
        </p:nvSpPr>
        <p:spPr>
          <a:xfrm>
            <a:off x="3810000" y="2392805"/>
            <a:ext cx="1424940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Nhu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tế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thú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cưng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lịch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vụ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Giải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pháp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lịch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chữa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bệnh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nhân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sự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cùng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nền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Lợi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ích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Nâng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sót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kiệm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trải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nghiệm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Ý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nghĩa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Góp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thúc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đẩy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chuyển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đổi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lĩnh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vực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thú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nâng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chất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vụ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vi-V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1DD330F-A2D7-E113-DEE1-83F9C77BCEB5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471ACD7-55EE-4E05-6F4F-2E0513910562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0074EE17-D317-0367-796A-771265C35CD5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21299B38-35D5-42C5-71A8-E11FB97B325D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8DC85D9-E4A7-6A9D-F79B-225512616AB9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FDA06AE3-E3DB-2815-5FBA-22837F2EDB11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95A0681-0D0A-5157-539E-342FA6514DB1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16161350-E260-3AA4-A4A6-DA033D58B81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709350-2E18-D3A4-B48A-6E0D1AC455C6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TÌNH HÌNH NGHIÊN CỨU TRONG VÀ NGOÀI NƯỚC</a:t>
            </a:r>
            <a:endParaRPr lang="en-US" sz="3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05093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786BD-D1CE-87D6-70AC-F90E7BF6D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D0E23E6B-ABCB-1735-231D-41CBEFBB6E5C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BFFC742-635D-F8C8-D4FD-5277838E3B22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18BD4DD-3F63-1B25-A953-067CA959924F}"/>
              </a:ext>
            </a:extLst>
          </p:cNvPr>
          <p:cNvSpPr/>
          <p:nvPr/>
        </p:nvSpPr>
        <p:spPr>
          <a:xfrm>
            <a:off x="3886200" y="3695700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87350F7-191E-980E-9E34-466ED73741C5}"/>
              </a:ext>
            </a:extLst>
          </p:cNvPr>
          <p:cNvSpPr txBox="1"/>
          <p:nvPr/>
        </p:nvSpPr>
        <p:spPr>
          <a:xfrm>
            <a:off x="288004" y="1325218"/>
            <a:ext cx="3217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8EF325-F90B-0F6B-7D21-B54BBC83422A}"/>
              </a:ext>
            </a:extLst>
          </p:cNvPr>
          <p:cNvSpPr txBox="1"/>
          <p:nvPr/>
        </p:nvSpPr>
        <p:spPr>
          <a:xfrm>
            <a:off x="3810000" y="2412254"/>
            <a:ext cx="117348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MỞ ĐẦU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6271971-4009-58C3-7FC1-000BF5918B19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950440C-8935-7830-037F-328380FC48CA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DE2E769-A58D-BFB5-F57A-0002B146B32B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CA2D238D-BBC1-9279-7539-1E811A314BAF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87687C3-2911-2701-2B27-E2BFEB7D23A8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C3B4C090-8EBF-7D64-F2C6-FFBDB5D6FB79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7BBF17-9091-7D0E-C780-0B76D2846BF5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03A1FACD-BA10-BFB9-991C-27A53017A5D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5146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06F0E-5AD2-3AC4-07B7-FC412025E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9ABA0280-EADF-88B2-557C-164D7BCCDA34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4A262F6-C5EF-17D9-4ACD-C9B008A402A2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664D5E3-3367-35D4-6804-8D8B20987023}"/>
              </a:ext>
            </a:extLst>
          </p:cNvPr>
          <p:cNvSpPr/>
          <p:nvPr/>
        </p:nvSpPr>
        <p:spPr>
          <a:xfrm>
            <a:off x="3886200" y="4808888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3EADB8F-48E9-EEE4-239E-3AD20948E3BD}"/>
              </a:ext>
            </a:extLst>
          </p:cNvPr>
          <p:cNvSpPr txBox="1"/>
          <p:nvPr/>
        </p:nvSpPr>
        <p:spPr>
          <a:xfrm>
            <a:off x="288004" y="1325218"/>
            <a:ext cx="3217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63D50C-98C3-0D61-3D77-5D59B9AD7A4E}"/>
              </a:ext>
            </a:extLst>
          </p:cNvPr>
          <p:cNvSpPr txBox="1"/>
          <p:nvPr/>
        </p:nvSpPr>
        <p:spPr>
          <a:xfrm>
            <a:off x="3810000" y="2412254"/>
            <a:ext cx="117348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MỞ ĐẦU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D3DE6B5-D0B4-E64F-DBD6-7CD05A6728F6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8C25398B-A40E-77BA-1215-64505C74292F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DE1F5E3-8B96-52D1-6FAF-98B03D1012D4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92757B9-61B1-B6FF-4058-3230A481984F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24B4EF9-A7F3-9360-BFD9-389A0BCB5573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92826352-7CA6-8DF2-6068-C3D17BB86E06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7981F55-BB97-915A-E74F-8B3C78AC5952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01ADE9E3-4573-02E2-51AD-BFFD65408F9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542934E-1121-4061-773B-F40F2417BD3F}"/>
              </a:ext>
            </a:extLst>
          </p:cNvPr>
          <p:cNvSpPr/>
          <p:nvPr/>
        </p:nvSpPr>
        <p:spPr>
          <a:xfrm>
            <a:off x="-8398" y="10278536"/>
            <a:ext cx="3810000" cy="5136005"/>
          </a:xfrm>
          <a:prstGeom prst="rect">
            <a:avLst/>
          </a:prstGeom>
          <a:solidFill>
            <a:srgbClr val="A3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016267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97CC5-C919-489D-7969-FBEFB5AF7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AA35AA2C-D8C5-BEA7-91A0-CA4E1FB53E5E}"/>
              </a:ext>
            </a:extLst>
          </p:cNvPr>
          <p:cNvSpPr/>
          <p:nvPr/>
        </p:nvSpPr>
        <p:spPr>
          <a:xfrm>
            <a:off x="0" y="5150995"/>
            <a:ext cx="3810000" cy="5136005"/>
          </a:xfrm>
          <a:prstGeom prst="rect">
            <a:avLst/>
          </a:prstGeom>
          <a:solidFill>
            <a:srgbClr val="A3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39CC5A3-EB83-4CC9-185C-FE35820C484F}"/>
              </a:ext>
            </a:extLst>
          </p:cNvPr>
          <p:cNvSpPr/>
          <p:nvPr/>
        </p:nvSpPr>
        <p:spPr>
          <a:xfrm>
            <a:off x="0" y="2400299"/>
            <a:ext cx="3810000" cy="2749749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71D20A-4F0B-2D8C-5DAC-6D63A3589D4B}"/>
              </a:ext>
            </a:extLst>
          </p:cNvPr>
          <p:cNvSpPr txBox="1"/>
          <p:nvPr/>
        </p:nvSpPr>
        <p:spPr>
          <a:xfrm>
            <a:off x="228599" y="3136953"/>
            <a:ext cx="3429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cứu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1F0022-C436-55C0-3A67-E1BC88069D55}"/>
              </a:ext>
            </a:extLst>
          </p:cNvPr>
          <p:cNvSpPr txBox="1"/>
          <p:nvPr/>
        </p:nvSpPr>
        <p:spPr>
          <a:xfrm>
            <a:off x="609600" y="6785483"/>
            <a:ext cx="2667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nghiên cứu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F8256E5E-446D-9F20-7903-B54C01AF3326}"/>
              </a:ext>
            </a:extLst>
          </p:cNvPr>
          <p:cNvSpPr txBox="1"/>
          <p:nvPr/>
        </p:nvSpPr>
        <p:spPr>
          <a:xfrm>
            <a:off x="3858223" y="2488700"/>
            <a:ext cx="14201178" cy="12164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ct val="130000"/>
              </a:lnSpc>
            </a:pPr>
            <a:r>
              <a:rPr lang="vi-VN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Đề tài được thực hiện tại: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Công ty TNHH Công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nghệ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Thiên An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63654-DC2C-226C-A032-3F62832C8206}"/>
              </a:ext>
            </a:extLst>
          </p:cNvPr>
          <p:cNvSpPr txBox="1"/>
          <p:nvPr/>
        </p:nvSpPr>
        <p:spPr>
          <a:xfrm>
            <a:off x="3810000" y="5130800"/>
            <a:ext cx="14249401" cy="1958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>
                <a:latin typeface="Times New Roman" panose="02020603050405020304" pitchFamily="18" charset="0"/>
                <a:ea typeface="SimSun" panose="02010600030101010101" pitchFamily="2" charset="-122"/>
              </a:rPr>
              <a:t>Phương pháp nghiên cứu lý luận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>
                <a:latin typeface="Times New Roman" panose="02020603050405020304" pitchFamily="18" charset="0"/>
                <a:ea typeface="SimSun" panose="02010600030101010101" pitchFamily="2" charset="-122"/>
              </a:rPr>
              <a:t>Phương pháp nghiên cứu thực nghiệm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>
                <a:latin typeface="Times New Roman" panose="02020603050405020304" pitchFamily="18" charset="0"/>
                <a:ea typeface="SimSun" panose="02010600030101010101" pitchFamily="2" charset="-122"/>
              </a:rPr>
              <a:t>Phương pháp chuyên gia</a:t>
            </a:r>
            <a:endParaRPr lang="en-US" sz="320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3F6DA76-0BA0-7C05-6482-946816174D9E}"/>
              </a:ext>
            </a:extLst>
          </p:cNvPr>
          <p:cNvCxnSpPr/>
          <p:nvPr/>
        </p:nvCxnSpPr>
        <p:spPr>
          <a:xfrm>
            <a:off x="5041757" y="5150995"/>
            <a:ext cx="1020406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D36799A-C0DD-2381-DDFA-BDCD9427DADC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81E1C90-DABC-715C-434C-4B861321A158}"/>
                </a:ext>
              </a:extLst>
            </p:cNvPr>
            <p:cNvGrpSpPr/>
            <p:nvPr/>
          </p:nvGrpSpPr>
          <p:grpSpPr>
            <a:xfrm>
              <a:off x="0" y="0"/>
              <a:ext cx="18360000" cy="1188944"/>
              <a:chOff x="0" y="0"/>
              <a:chExt cx="18360000" cy="1188944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86D392F5-0FC2-968C-9D3E-25A9D7756981}"/>
                  </a:ext>
                </a:extLst>
              </p:cNvPr>
              <p:cNvSpPr/>
              <p:nvPr/>
            </p:nvSpPr>
            <p:spPr>
              <a:xfrm>
                <a:off x="0" y="0"/>
                <a:ext cx="18360000" cy="1188000"/>
              </a:xfrm>
              <a:prstGeom prst="rect">
                <a:avLst/>
              </a:prstGeom>
              <a:solidFill>
                <a:srgbClr val="E6E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7B0AC89C-5A24-FB8B-ABFA-267582A5CBF7}"/>
                  </a:ext>
                </a:extLst>
              </p:cNvPr>
              <p:cNvSpPr/>
              <p:nvPr/>
            </p:nvSpPr>
            <p:spPr>
              <a:xfrm>
                <a:off x="0" y="1116944"/>
                <a:ext cx="18360000" cy="72000"/>
              </a:xfrm>
              <a:prstGeom prst="rect">
                <a:avLst/>
              </a:prstGeom>
              <a:solidFill>
                <a:srgbClr val="583F3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8783BF10-9360-0350-6377-FBD79BB7F9D8}"/>
                  </a:ext>
                </a:extLst>
              </p:cNvPr>
              <p:cNvSpPr/>
              <p:nvPr/>
            </p:nvSpPr>
            <p:spPr>
              <a:xfrm>
                <a:off x="0" y="1045887"/>
                <a:ext cx="18360000" cy="72000"/>
              </a:xfrm>
              <a:prstGeom prst="rect">
                <a:avLst/>
              </a:prstGeom>
              <a:solidFill>
                <a:srgbClr val="007A4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059FF4CC-1131-15A1-D5FF-A3092C9D84E4}"/>
                  </a:ext>
                </a:extLst>
              </p:cNvPr>
              <p:cNvSpPr/>
              <p:nvPr/>
            </p:nvSpPr>
            <p:spPr>
              <a:xfrm>
                <a:off x="0" y="976498"/>
                <a:ext cx="18360000" cy="72000"/>
              </a:xfrm>
              <a:prstGeom prst="rect">
                <a:avLst/>
              </a:prstGeom>
              <a:solidFill>
                <a:srgbClr val="FCAF1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</p:grp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22170CF1-04BA-BABB-0DCF-01E2154B5EA3}"/>
                </a:ext>
              </a:extLst>
            </p:cNvPr>
            <p:cNvSpPr/>
            <p:nvPr/>
          </p:nvSpPr>
          <p:spPr>
            <a:xfrm>
              <a:off x="12335113" y="5574"/>
              <a:ext cx="954107" cy="957984"/>
            </a:xfrm>
            <a:prstGeom prst="ellipse">
              <a:avLst/>
            </a:prstGeom>
            <a:blipFill dpi="0"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uli Bold" panose="020B060402020202020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D7DB524-0426-F47E-415C-73F3529D52BB}"/>
                </a:ext>
              </a:extLst>
            </p:cNvPr>
            <p:cNvSpPr txBox="1"/>
            <p:nvPr/>
          </p:nvSpPr>
          <p:spPr>
            <a:xfrm>
              <a:off x="5976814" y="0"/>
              <a:ext cx="6358299" cy="10310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rgbClr val="583F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HỌC VIỆN NÔNG NGHIỆP VIỆT NAM</a:t>
              </a:r>
            </a:p>
            <a:p>
              <a:pPr algn="ctr">
                <a:spcBef>
                  <a:spcPts val="600"/>
                </a:spcBef>
              </a:pPr>
              <a:r>
                <a:rPr lang="en-US" sz="2800" b="1" dirty="0">
                  <a:solidFill>
                    <a:srgbClr val="583F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KHOA CÔNG NGHỆ THÔNG TIN</a:t>
              </a:r>
            </a:p>
          </p:txBody>
        </p:sp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2E5E315-0D01-B470-DC1D-379F129E89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41757" y="8464"/>
              <a:ext cx="954107" cy="954107"/>
            </a:xfrm>
            <a:prstGeom prst="rect">
              <a:avLst/>
            </a:prstGeom>
          </p:spPr>
        </p:pic>
      </p:grpSp>
      <p:sp>
        <p:nvSpPr>
          <p:cNvPr id="51" name="Rectangle 50">
            <a:extLst>
              <a:ext uri="{FF2B5EF4-FFF2-40B4-BE49-F238E27FC236}">
                <a16:creationId xmlns:a16="http://schemas.microsoft.com/office/drawing/2014/main" id="{6B7549D4-F17F-E1D7-FD47-74ED02FF9DF6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8A90E312-5E37-3305-8C2A-4E37CDD20B8D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2A4ACE2-BE93-5257-1130-3CD789C3DF72}"/>
              </a:ext>
            </a:extLst>
          </p:cNvPr>
          <p:cNvSpPr txBox="1"/>
          <p:nvPr/>
        </p:nvSpPr>
        <p:spPr>
          <a:xfrm>
            <a:off x="3858222" y="1463633"/>
            <a:ext cx="100863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NỘI DUNG VÀ PHƯƠNG PHÁP NGHIÊN CỨU</a:t>
            </a:r>
            <a:endParaRPr lang="en-US" sz="3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97315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34D95-F3C7-CC4B-C843-EB04CE3F5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8C2DD526-00AA-17E3-8192-91AC60E6EF23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C8FF5868-02AF-7740-103D-8DCEF34B5D96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3C9E027-1496-BC1E-1346-9C6BB1AF06FD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9728C56F-BAF4-AA99-A2B2-404CF0F5AB8E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15CB54-2752-F486-F870-E79F83FD8944}"/>
              </a:ext>
            </a:extLst>
          </p:cNvPr>
          <p:cNvSpPr txBox="1"/>
          <p:nvPr/>
        </p:nvSpPr>
        <p:spPr>
          <a:xfrm>
            <a:off x="685800" y="5466487"/>
            <a:ext cx="2286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Nội dung nghiên cứu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480541-2574-93E8-D38D-7187C31B1608}"/>
              </a:ext>
            </a:extLst>
          </p:cNvPr>
          <p:cNvSpPr txBox="1"/>
          <p:nvPr/>
        </p:nvSpPr>
        <p:spPr>
          <a:xfrm>
            <a:off x="3810000" y="2453830"/>
            <a:ext cx="14249400" cy="70703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 b="1">
                <a:latin typeface="Times New Roman" panose="02020603050405020304" pitchFamily="18" charset="0"/>
                <a:ea typeface="SimSun" panose="02010600030101010101" pitchFamily="2" charset="-122"/>
              </a:rPr>
              <a:t>Khảo sát và viết đặc tả yêu cầu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 b="1">
                <a:latin typeface="Times New Roman" panose="02020603050405020304" pitchFamily="18" charset="0"/>
                <a:ea typeface="SimSun" panose="02010600030101010101" pitchFamily="2" charset="-122"/>
              </a:rPr>
              <a:t>Nghiên cứu các công nghệ thiết kế phía Front-end</a:t>
            </a:r>
            <a:endParaRPr lang="en-US" sz="3200" b="1"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 b="1">
                <a:latin typeface="Times New Roman" panose="02020603050405020304" pitchFamily="18" charset="0"/>
                <a:ea typeface="SimSun" panose="02010600030101010101" pitchFamily="2" charset="-122"/>
              </a:rPr>
              <a:t>Nghiên cứu công nghệ thiết kế phía Back-end</a:t>
            </a:r>
            <a:endParaRPr lang="en-US" sz="320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 b="1">
                <a:latin typeface="Times New Roman" panose="02020603050405020304" pitchFamily="18" charset="0"/>
                <a:ea typeface="SimSun" panose="02010600030101010101" pitchFamily="2" charset="-122"/>
              </a:rPr>
              <a:t>Nghiên cứu quy trình xây dựng phần mềm:</a:t>
            </a:r>
            <a:endParaRPr lang="en-US" sz="3200" b="1"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914400" lvl="1" indent="-457200">
              <a:lnSpc>
                <a:spcPct val="130000"/>
              </a:lnSpc>
              <a:buFont typeface="Wingdings" panose="05000000000000000000" pitchFamily="2" charset="2"/>
              <a:buChar char="Ø"/>
            </a:pPr>
            <a:r>
              <a:rPr lang="vi-VN" sz="3200">
                <a:latin typeface="Times New Roman" panose="02020603050405020304" pitchFamily="18" charset="0"/>
                <a:ea typeface="Times New Roman" panose="02020603050405020304" pitchFamily="18" charset="0"/>
              </a:rPr>
              <a:t>Thiết kế kiến trúc hệ thống </a:t>
            </a:r>
            <a:endParaRPr lang="en-US" sz="320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914400" lvl="1" indent="-457200">
              <a:lnSpc>
                <a:spcPct val="130000"/>
              </a:lnSpc>
              <a:buFont typeface="Wingdings" panose="05000000000000000000" pitchFamily="2" charset="2"/>
              <a:buChar char="Ø"/>
            </a:pPr>
            <a:r>
              <a:rPr lang="vi-VN" sz="3200">
                <a:latin typeface="Times New Roman" panose="02020603050405020304" pitchFamily="18" charset="0"/>
                <a:ea typeface="Times New Roman" panose="02020603050405020304" pitchFamily="18" charset="0"/>
              </a:rPr>
              <a:t>Thiết kế CSDL</a:t>
            </a:r>
            <a:endParaRPr lang="en-US" sz="320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914400" lvl="1" indent="-457200">
              <a:lnSpc>
                <a:spcPct val="130000"/>
              </a:lnSpc>
              <a:buFont typeface="Wingdings" panose="05000000000000000000" pitchFamily="2" charset="2"/>
              <a:buChar char="Ø"/>
            </a:pPr>
            <a:r>
              <a:rPr lang="vi-VN" sz="3200">
                <a:latin typeface="Times New Roman" panose="02020603050405020304" pitchFamily="18" charset="0"/>
                <a:ea typeface="Times New Roman" panose="02020603050405020304" pitchFamily="18" charset="0"/>
              </a:rPr>
              <a:t>Thiết kế giao diện</a:t>
            </a:r>
            <a:endParaRPr lang="en-US" sz="320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914400" lvl="1" indent="-457200">
              <a:lnSpc>
                <a:spcPct val="130000"/>
              </a:lnSpc>
              <a:buFont typeface="Wingdings" panose="05000000000000000000" pitchFamily="2" charset="2"/>
              <a:buChar char="Ø"/>
            </a:pPr>
            <a:r>
              <a:rPr lang="vi-VN" sz="3200">
                <a:latin typeface="Times New Roman" panose="02020603050405020304" pitchFamily="18" charset="0"/>
                <a:ea typeface="Times New Roman" panose="02020603050405020304" pitchFamily="18" charset="0"/>
              </a:rPr>
              <a:t>Thiết kế các thành phần, chức năng cần có cho </a:t>
            </a:r>
            <a:r>
              <a:rPr lang="en-US" sz="3200">
                <a:latin typeface="Times New Roman" panose="02020603050405020304" pitchFamily="18" charset="0"/>
                <a:ea typeface="Times New Roman" panose="02020603050405020304" pitchFamily="18" charset="0"/>
              </a:rPr>
              <a:t>ứng dụng</a:t>
            </a: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>
                <a:latin typeface="Times New Roman" panose="02020603050405020304" pitchFamily="18" charset="0"/>
                <a:ea typeface="SimSun" panose="02010600030101010101" pitchFamily="2" charset="-122"/>
              </a:rPr>
              <a:t>Nghiên cứu quy trình viết đặc tả yêu cầu theo hướng đối tượng.</a:t>
            </a:r>
            <a:endParaRPr lang="en-US" sz="320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>
                <a:latin typeface="Times New Roman" panose="02020603050405020304" pitchFamily="18" charset="0"/>
                <a:ea typeface="SimSun" panose="02010600030101010101" pitchFamily="2" charset="-122"/>
              </a:rPr>
              <a:t>Nghiên cứu quy trình kiểm thử phần mềm.</a:t>
            </a:r>
            <a:endParaRPr lang="en-US" sz="320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>
                <a:latin typeface="Times New Roman" panose="02020603050405020304" pitchFamily="18" charset="0"/>
                <a:ea typeface="SimSun" panose="02010600030101010101" pitchFamily="2" charset="-122"/>
              </a:rPr>
              <a:t>Chỉnh sửa kiểm thử và hoàn thiện chương trình</a:t>
            </a:r>
            <a:endParaRPr lang="en-US" sz="320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87F4830-A03E-AF7C-D4EA-85F834CE2952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B652FBA3-699B-03DD-892C-44F0DDB3097A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7BCA0DB6-659B-3529-329D-838279E74441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77932484-39A1-A0C1-1278-6038B3A5A695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1957817C-3130-E1B2-8FC8-8FA005B278C5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560F43E2-F7EA-8427-C254-77A51066C799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E94FFC4-A91E-AE6F-D7D2-406E4A71D24C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7DC1F384-BEAB-D283-6D44-0129512C31C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C230445-0126-6E4A-9D96-A5514DB6D7A7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NỘI DUNG VÀ PHƯƠNG PHÁP NGHIÊN CỨU</a:t>
            </a:r>
            <a:endParaRPr lang="en-US" sz="3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0BAD8A-E7DA-B09D-9385-C2082B322507}"/>
              </a:ext>
            </a:extLst>
          </p:cNvPr>
          <p:cNvSpPr/>
          <p:nvPr/>
        </p:nvSpPr>
        <p:spPr>
          <a:xfrm>
            <a:off x="-3810000" y="5150995"/>
            <a:ext cx="3810000" cy="5136005"/>
          </a:xfrm>
          <a:prstGeom prst="rect">
            <a:avLst/>
          </a:prstGeom>
          <a:solidFill>
            <a:srgbClr val="A3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024736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F299D-1286-75A9-893E-4C0546377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E6779247-9B11-017D-A0C5-32293F81A140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1DD69D7-8A35-F3C6-F1A1-1C55F5511D78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A6D9EE6-DFE1-552B-EA0F-145CB73B3814}"/>
              </a:ext>
            </a:extLst>
          </p:cNvPr>
          <p:cNvSpPr/>
          <p:nvPr/>
        </p:nvSpPr>
        <p:spPr>
          <a:xfrm>
            <a:off x="3886200" y="4808888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2D19EE-4C2C-5932-D9C8-E296D847DFEC}"/>
              </a:ext>
            </a:extLst>
          </p:cNvPr>
          <p:cNvSpPr txBox="1"/>
          <p:nvPr/>
        </p:nvSpPr>
        <p:spPr>
          <a:xfrm>
            <a:off x="288004" y="1325218"/>
            <a:ext cx="3217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EE5A4A-EF79-E3D2-D004-C3BD9254D91A}"/>
              </a:ext>
            </a:extLst>
          </p:cNvPr>
          <p:cNvSpPr txBox="1"/>
          <p:nvPr/>
        </p:nvSpPr>
        <p:spPr>
          <a:xfrm>
            <a:off x="3810000" y="2412254"/>
            <a:ext cx="117348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207F82A-1113-AE57-4ADE-6C6D7EDEE9ED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52C9B87-3D0A-D71D-CF1A-728FC7911B43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3692B91-074F-5D12-FEC9-89439798A85F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52AB5AED-2438-D323-5AC7-8893F413C75D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23B251E-22D5-BDAA-1DC3-E4B703DF24F5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7AE40797-AF23-F841-4B5A-086341A386E1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2708759-C1C7-515C-80AB-C4374DF74491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0CD0C103-C2DE-13DC-CEBC-C77709EBC4D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574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81309-1A37-A603-CDEE-D6D1CEDCF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5E6420F8-0F48-DE10-692A-E694A99C3D1F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752476C-59A2-96FF-AEFD-4681C9566EBA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357E6FE-A0CC-9779-25E9-5A98191B1735}"/>
              </a:ext>
            </a:extLst>
          </p:cNvPr>
          <p:cNvSpPr/>
          <p:nvPr/>
        </p:nvSpPr>
        <p:spPr>
          <a:xfrm>
            <a:off x="3886200" y="5905500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4919BD2-039E-9430-971D-0EA7220655B4}"/>
              </a:ext>
            </a:extLst>
          </p:cNvPr>
          <p:cNvSpPr txBox="1"/>
          <p:nvPr/>
        </p:nvSpPr>
        <p:spPr>
          <a:xfrm>
            <a:off x="288004" y="1325218"/>
            <a:ext cx="3217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02C9DD-43F0-836B-BC79-FB88936219D3}"/>
              </a:ext>
            </a:extLst>
          </p:cNvPr>
          <p:cNvSpPr txBox="1"/>
          <p:nvPr/>
        </p:nvSpPr>
        <p:spPr>
          <a:xfrm>
            <a:off x="3810000" y="2412254"/>
            <a:ext cx="117348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C011E8D-EE5D-40C5-7222-642B1C8676E1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BEA8CB8A-4EEC-8BF1-4E26-BAB517B3222B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66D98CC-6B10-84E0-CC02-867AFFFC46A9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2CA948B-D150-40C6-A444-0DC55FA5BAF4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89FAC4B-F2EC-C537-83CF-A7990FA00189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A017A576-D0DF-4E2C-34EB-F3CEBE8F2888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306A525-E71F-95BA-EEFD-963F99014FF7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8D511443-182C-FEE2-63D5-FB88C4BBC02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7935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6D77D-57CA-D5D3-92D5-79E87C67B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3536D4BE-6884-3793-90E0-BEBAD4B46221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AD331214-3A94-434E-DBAA-CECDFC18C3B7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E2D80DB-D601-7C1F-2B52-5DD07C99F8D3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F784DF5B-FC53-1A0C-1307-B9617D902FA2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0FB833-1770-B0DE-9E70-5E7824A06873}"/>
              </a:ext>
            </a:extLst>
          </p:cNvPr>
          <p:cNvSpPr txBox="1"/>
          <p:nvPr/>
        </p:nvSpPr>
        <p:spPr>
          <a:xfrm>
            <a:off x="685800" y="5466487"/>
            <a:ext cx="2286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Tổng quan lý thuyết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2D8A18-1812-C35F-3A73-C56A4B7B7760}"/>
              </a:ext>
            </a:extLst>
          </p:cNvPr>
          <p:cNvSpPr txBox="1"/>
          <p:nvPr/>
        </p:nvSpPr>
        <p:spPr>
          <a:xfrm>
            <a:off x="3872252" y="3673496"/>
            <a:ext cx="14249400" cy="5149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Các </a:t>
            </a: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công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nghệ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được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sử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dụng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:</a:t>
            </a: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HTML/CSS(Ant Design/ AG-Grid)</a:t>
            </a: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C#(ASP.NET Core Web API Framework)</a:t>
            </a: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SQL Server</a:t>
            </a: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Typescript(Angular)</a:t>
            </a: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Docker</a:t>
            </a: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Postman/ Swagger</a:t>
            </a: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Git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0EE4715-F6F0-062D-D83B-436253F13115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19BF3B98-A456-AADB-987F-E8CAB33C2468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6A404C-9CDB-C2CA-6CC4-E75C3894E64A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0DDEF088-51FC-7D59-3355-3AE84E4DB27D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4A8F718-0B2F-9D17-B5A7-B00E50D4C608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C93A21D6-FDC4-2A9B-971C-9884E6AA7532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64A72B4-1BFB-8BB8-A684-D60D35967F46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6193B867-AE17-AA9F-A6E1-7158798B317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DB05631-526A-1D41-609A-17599C9BA64A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</p:spTree>
    <p:extLst>
      <p:ext uri="{BB962C8B-B14F-4D97-AF65-F5344CB8AC3E}">
        <p14:creationId xmlns:p14="http://schemas.microsoft.com/office/powerpoint/2010/main" val="8539032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90026-6EE6-00C0-9F48-596909E29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B49B77CE-2BA5-2736-31AA-EF5FC26CBFBB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C88F68D0-5BC1-4682-2C3F-B4B390C6D443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8F3929C-4EE2-EDE8-3719-0D25C1D8616A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F45747B6-1B55-9249-2C29-913C95AC0BC8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203385-3654-A9D1-DE16-58B992BA28CA}"/>
              </a:ext>
            </a:extLst>
          </p:cNvPr>
          <p:cNvSpPr txBox="1"/>
          <p:nvPr/>
        </p:nvSpPr>
        <p:spPr>
          <a:xfrm>
            <a:off x="685800" y="5466487"/>
            <a:ext cx="22860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Lý do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5CE89F-A044-5582-F7E2-85F6811876E0}"/>
              </a:ext>
            </a:extLst>
          </p:cNvPr>
          <p:cNvSpPr txBox="1"/>
          <p:nvPr/>
        </p:nvSpPr>
        <p:spPr>
          <a:xfrm>
            <a:off x="3872252" y="3673496"/>
            <a:ext cx="142494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Lý do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lựa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chọn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Component,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SPA,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mở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rộng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Giao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hồi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nhanh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TypeScript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giúp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lỗi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lập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ASP.NET Core Web API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Lý do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lựa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chọn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Hiệu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RESTful API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lớp</a:t>
            </a:r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Bảo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mật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Dependency Injection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mở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rộng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sz="3200" dirty="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EB88EA4-8B56-00A6-0D77-52148DAD11B6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D521C42C-8569-8617-B527-725C3F9C4B92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EFE9EFAC-18C5-9C81-61F7-76BB83219C9E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6684BF91-3E67-5E0F-6926-374D29421594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DC623269-1AB8-DA69-ED8D-2A1C4E6E0316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F1EBA936-BFF8-E6C0-886E-B3E3F1A99FF8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918F24A-0B5C-B382-7347-ADC2050B78F7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AB5D58E6-D3D1-B6E3-9F37-19B7B976D65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21BDFCD-C1C4-A261-DC74-75AA7EBD6031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</p:spTree>
    <p:extLst>
      <p:ext uri="{BB962C8B-B14F-4D97-AF65-F5344CB8AC3E}">
        <p14:creationId xmlns:p14="http://schemas.microsoft.com/office/powerpoint/2010/main" val="357991021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44A0F-74DC-A346-C251-373BBBF21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DC01AE9F-EAA9-5EA0-687E-F4E2947D515A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58FE71C-4B70-F609-2A85-8037B4CCE520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C0372A4-D5F0-B183-CD4B-EC7F504CB9FC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BE8209F2-AEBA-0E50-2B1C-FD4EA425E0A9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5CEFF6-DBAC-50B7-681D-CA468A8DBDF1}"/>
              </a:ext>
            </a:extLst>
          </p:cNvPr>
          <p:cNvSpPr txBox="1"/>
          <p:nvPr/>
        </p:nvSpPr>
        <p:spPr>
          <a:xfrm>
            <a:off x="685800" y="5466487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Phân tích thiết kế hệ thống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288A30-F875-AA1D-B856-29D481908587}"/>
              </a:ext>
            </a:extLst>
          </p:cNvPr>
          <p:cNvSpPr txBox="1"/>
          <p:nvPr/>
        </p:nvSpPr>
        <p:spPr>
          <a:xfrm>
            <a:off x="3810000" y="2430905"/>
            <a:ext cx="14249400" cy="668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>
                <a:latin typeface="Times New Roman" panose="02020603050405020304" pitchFamily="18" charset="0"/>
                <a:ea typeface="SimSun" panose="02010600030101010101" pitchFamily="2" charset="-122"/>
              </a:rPr>
              <a:t>Biểu đồ Usecase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6403500-2549-6CE9-B204-80F9AD0FC8AB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71F49054-1D19-85C2-09AE-A9C2C5E53C87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7CC9F23-D38C-B44C-5B33-15DE0FF42528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47B91105-2C0D-443E-588F-32E57341B995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A0835B6-2AE0-F3C1-FDA6-A4898D3DE127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1B18056E-37B7-7232-0CD5-66990543CDA7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BCC2037-A5C1-CA18-3C21-EF22E0D43B68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7D9F87D7-D9EB-2BF4-24F9-B5E79405ABB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396086C-F77B-27CC-B97E-4DB9D637FA9A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91114A-E1A9-E083-4CE3-EAC8BE4511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4927" y="2970911"/>
            <a:ext cx="12408146" cy="6951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882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4C22C-9D1A-BD3F-9DFC-E8C8A470C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4C1914FD-FA35-E228-FFF0-C37CB306906E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EF6BC302-92DD-B99F-C45F-79DE0D88E6A5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CCDA566-9A59-9BF0-12D2-DBED34C58F7A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71BF45A4-4FDF-351B-11FA-7E0B80002478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47441C-A418-45E1-1CF7-286AA0511210}"/>
              </a:ext>
            </a:extLst>
          </p:cNvPr>
          <p:cNvSpPr txBox="1"/>
          <p:nvPr/>
        </p:nvSpPr>
        <p:spPr>
          <a:xfrm>
            <a:off x="685800" y="5466487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Phân tích thiết kế hệ thống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9C3F42-0BAE-85FF-12F7-40530F12244E}"/>
              </a:ext>
            </a:extLst>
          </p:cNvPr>
          <p:cNvSpPr txBox="1"/>
          <p:nvPr/>
        </p:nvSpPr>
        <p:spPr>
          <a:xfrm>
            <a:off x="3810000" y="2430905"/>
            <a:ext cx="14249400" cy="668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>
                <a:latin typeface="Times New Roman" panose="02020603050405020304" pitchFamily="18" charset="0"/>
                <a:ea typeface="SimSun" panose="02010600030101010101" pitchFamily="2" charset="-122"/>
              </a:rPr>
              <a:t>Biểu đồ Usecase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4FF3675-AA1D-18DB-01D8-4016A1AE21B9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0B4ADF4-FE18-3FA8-ACA6-227DD23AB2A7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7537CF34-6B0D-8547-831F-80B40801E749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7AEBDE12-293B-6BF0-2336-2DE0A289F392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C9422CFB-35E0-0A83-1517-A2FDB41B1A9E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163B7D29-B0FD-4555-2399-C49D9238B13E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2254C66-C3E2-1C15-C427-8884903042B9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F391045F-0B18-E2A8-2E5D-753EF137545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6A9952F-82E0-6A95-FD41-100AE30D5CE2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A37B5BF-97F6-2D61-40CA-5574F137FC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172115"/>
            <a:ext cx="11658599" cy="5972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2781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40023-631C-4B1E-E847-286CD3385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2E37F152-5123-F528-CDDD-9BA5F26A6B8C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ADC7D53-9E82-2A2A-36CF-A13F28485807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7CDB43A-CB60-C10B-403E-81C37EF6931B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FA28BDE1-BA73-E5CA-4195-A3D0DC6A5800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AE7B83-3624-D976-3FBB-B7BBFA962D73}"/>
              </a:ext>
            </a:extLst>
          </p:cNvPr>
          <p:cNvSpPr txBox="1"/>
          <p:nvPr/>
        </p:nvSpPr>
        <p:spPr>
          <a:xfrm>
            <a:off x="685800" y="5466487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Phân tích thiết kế hệ thống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1CFDA1-8BD0-709A-1341-81C8A36BE470}"/>
              </a:ext>
            </a:extLst>
          </p:cNvPr>
          <p:cNvSpPr txBox="1"/>
          <p:nvPr/>
        </p:nvSpPr>
        <p:spPr>
          <a:xfrm>
            <a:off x="3810000" y="2430905"/>
            <a:ext cx="14249400" cy="668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>
                <a:latin typeface="Times New Roman" panose="02020603050405020304" pitchFamily="18" charset="0"/>
                <a:ea typeface="SimSun" panose="02010600030101010101" pitchFamily="2" charset="-122"/>
              </a:rPr>
              <a:t>Biểu đồ Usecase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E0D591C-606A-AD67-AED2-911FBECBEDDA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D50D7533-88BC-219D-CF61-2252E9727C60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2DB3653-A98B-4EF8-CC3F-8D47641C3A44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03B49828-EFDA-FD57-218C-E5FAA1067BF5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F6A8E4F-E876-6358-260E-80C0D216661A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FE95B9A5-A682-F386-D33D-7B918247B0E7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55204D9-F942-E4FE-9A10-0DB17E2A02B5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20EABFD6-018B-C873-BF39-2FFC1F6F35B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E05E404-05BB-4023-70F6-438CE938A20A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46C02C-0065-F35A-CF7F-4A47E3C6DF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1277" y="3137650"/>
            <a:ext cx="12420600" cy="6871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6441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18605-C8F9-9429-0A92-2FA9D486C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04B14329-632F-39FD-8C52-BCBCD0B60E4C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65AB5BFC-3A73-B171-4FDA-FC9C6EA83F7F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EAA7A3C-61FB-72D0-5665-6301357CDFF4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33683D2F-C9C6-DF6E-6223-3942D9A38BC0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0063F6-3FAF-97CC-F6A3-5D3501C95C41}"/>
              </a:ext>
            </a:extLst>
          </p:cNvPr>
          <p:cNvSpPr txBox="1"/>
          <p:nvPr/>
        </p:nvSpPr>
        <p:spPr>
          <a:xfrm>
            <a:off x="685800" y="5466487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Phân tích thiết kế hệ thống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443ED4-AFC8-2BE9-53AD-B3E0C72127DE}"/>
              </a:ext>
            </a:extLst>
          </p:cNvPr>
          <p:cNvSpPr txBox="1"/>
          <p:nvPr/>
        </p:nvSpPr>
        <p:spPr>
          <a:xfrm>
            <a:off x="3810000" y="2430905"/>
            <a:ext cx="14249400" cy="668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>
                <a:latin typeface="Times New Roman" panose="02020603050405020304" pitchFamily="18" charset="0"/>
                <a:ea typeface="SimSun" panose="02010600030101010101" pitchFamily="2" charset="-122"/>
              </a:rPr>
              <a:t>Biểu đồ Usecase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9EE4DC0-C4B8-1D5D-9E29-66F3881BA1B1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49742EC-A506-F206-C113-9431E5B846CE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3B96B122-60AB-6682-13FF-04F195CBF5B7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32350240-DEB4-F3C2-0F88-9D3D3AD77AC2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C3AF30E0-A394-CB8A-161D-2A437B558A37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C2C672BF-3638-7858-ED99-F80FC4207C88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18DDFCC-5B11-19E8-889D-A9EDBC5E7CE0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D694106D-C88C-BE81-E6B9-64502F85B4B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CFF703-E170-BA8F-0BB6-D199B642A575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70E8C0-4672-A37C-0068-C47FA82FAE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3629253"/>
            <a:ext cx="12515092" cy="6509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83433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74571-413E-4545-328E-450C8A74C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FDBAFC3C-D6AB-E89F-E7B6-91C24E00FFEC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2CEE31E4-04B3-63C8-2A65-804757B1B4A2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7334A50-0490-AE7B-E350-AD319836B530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9CB22D16-05E7-9E6C-BD6B-6582A079169A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E78F8C-3C80-B9E2-7C93-F5C0F12336D7}"/>
              </a:ext>
            </a:extLst>
          </p:cNvPr>
          <p:cNvSpPr txBox="1"/>
          <p:nvPr/>
        </p:nvSpPr>
        <p:spPr>
          <a:xfrm>
            <a:off x="685800" y="5466487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Phân tích thiết kế hệ thống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3EAC8F-8841-6863-E2D0-384782038D83}"/>
              </a:ext>
            </a:extLst>
          </p:cNvPr>
          <p:cNvSpPr txBox="1"/>
          <p:nvPr/>
        </p:nvSpPr>
        <p:spPr>
          <a:xfrm>
            <a:off x="3810000" y="2430905"/>
            <a:ext cx="14249400" cy="668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Biểu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đồ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Class</a:t>
            </a:r>
            <a:endParaRPr lang="en-US" sz="3200" dirty="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18278BB-275F-702E-A795-E3D4811FD50A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629D4C15-E4FA-C6B3-B112-426D452EC4C2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7649F4B-C6F0-7991-892E-690836104E0E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E8DFBBD1-DA98-4356-C688-7528C94717D3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AFEE6B2-1DCC-0BE7-0C98-CC6ECC4F2FA8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48934823-B5A2-5068-98B2-EF41806F0573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10C050A-0180-5B62-E7AE-73137343E83F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529D4D69-95E0-6DC6-7775-01947638C36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1FFB93E-DAF1-4B32-F1CA-4EE143A9E59F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4528E7-CE01-D9A7-0E05-6C75A71625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7000" y="2392804"/>
            <a:ext cx="9419220" cy="7886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588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FFB1F-E479-B1B9-388A-02E6BA13B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798B88E7-5AFF-9B66-9D68-6BA65D5DE9B9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68EA1EF-CC0B-989F-A6BC-C6361B6A00BF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988D3BF-4EA9-5EC8-3D85-7D527510961E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730CFFD8-8423-69F8-27D7-A1B18A3EA0EC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527EF6-3BDE-0DC3-CA8C-3737B3480865}"/>
              </a:ext>
            </a:extLst>
          </p:cNvPr>
          <p:cNvSpPr txBox="1"/>
          <p:nvPr/>
        </p:nvSpPr>
        <p:spPr>
          <a:xfrm>
            <a:off x="685800" y="5466487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Phân tích thiết kế hệ thống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5515DD-A935-9793-1AC0-12508149B5BC}"/>
              </a:ext>
            </a:extLst>
          </p:cNvPr>
          <p:cNvSpPr txBox="1"/>
          <p:nvPr/>
        </p:nvSpPr>
        <p:spPr>
          <a:xfrm>
            <a:off x="3810000" y="2430905"/>
            <a:ext cx="14249400" cy="668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>
                <a:latin typeface="Times New Roman" panose="02020603050405020304" pitchFamily="18" charset="0"/>
                <a:ea typeface="SimSun" panose="02010600030101010101" pitchFamily="2" charset="-122"/>
              </a:rPr>
              <a:t>Biểu đồ Sequence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91366EB-0423-AF76-4101-C4FD3AFC0941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92634C6-DE5B-1F11-3999-9A4FAC3E2D86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E2E694F5-E155-3D0A-1F79-BCAFCAB50571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B6C5B9C3-617E-451F-9F17-29AE4CE51A01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49274FA-2371-90DE-FF3F-E2E90897E45D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0FFAC545-042D-317F-F029-3851F10FE5DF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8792570-C937-6D4C-0688-1704B2B6C0B3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E4B06361-F37F-0A4E-4D78-AA0601D2C0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CA6638-CAF3-063A-C30B-85D37FA5DDFC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C3C451-F42C-B062-7776-75385579A2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0200" y="3271803"/>
            <a:ext cx="11487662" cy="614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1561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50A23-C7F7-DC1C-5EDB-2E9E02C81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64527C78-001F-E8BB-A56D-198BD4312C87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13872903-AFF1-11B2-5B9F-735D01E16535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F7BD3A9-F26A-CACF-5EA8-ED27FFDAE213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25FEB034-2C60-07E1-B878-9CA083E8290C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A7103C-567A-D6D6-E948-9DF97D8E5FFC}"/>
              </a:ext>
            </a:extLst>
          </p:cNvPr>
          <p:cNvSpPr txBox="1"/>
          <p:nvPr/>
        </p:nvSpPr>
        <p:spPr>
          <a:xfrm>
            <a:off x="685800" y="5466487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Phân tích thiết kế hệ thống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97B6C2-72C5-9CF4-D6FD-300032FA7ADD}"/>
              </a:ext>
            </a:extLst>
          </p:cNvPr>
          <p:cNvSpPr txBox="1"/>
          <p:nvPr/>
        </p:nvSpPr>
        <p:spPr>
          <a:xfrm>
            <a:off x="3810000" y="2430905"/>
            <a:ext cx="14249400" cy="668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>
                <a:latin typeface="Times New Roman" panose="02020603050405020304" pitchFamily="18" charset="0"/>
                <a:ea typeface="SimSun" panose="02010600030101010101" pitchFamily="2" charset="-122"/>
              </a:rPr>
              <a:t>Biểu đồ Sequence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F1C416E-D754-931E-D37E-C0B2AA961B10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E62A110-D793-5F89-A1E9-72F55B1C4957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7882F04-88C5-CBBC-163F-1803598044C5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F18F62AE-59DA-4587-FFEA-8EF8C24BB744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4583DF2-22D4-FB7E-088F-37FEFD8A05FC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6CBA8FC6-A325-60FC-0F5E-6584E6BD595D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FBD04A1-FE01-C1F7-B277-30B1E3FEE376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50DCE941-6228-8F48-3AAB-C512A65388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CCD54A7-0EDD-ADAD-D5D9-39F2FF6F129A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BC5640-C702-4419-F682-BEB70D920F1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000" y="2456992"/>
            <a:ext cx="8686800" cy="78317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453621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B26DE-6447-9C48-DBA0-9689FCD7D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D9B7F4C2-ABA1-DADC-2EE7-78C75B940ECE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B5594B10-80A1-3150-47FD-BD9E70393AF9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584175D-C2AF-EF21-CF9C-367E86650E1C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7E68D001-E604-2EB7-B25F-6FFFD7C2CEB9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BD6934-94FE-31EE-7F07-F722A2FAC2F5}"/>
              </a:ext>
            </a:extLst>
          </p:cNvPr>
          <p:cNvSpPr txBox="1"/>
          <p:nvPr/>
        </p:nvSpPr>
        <p:spPr>
          <a:xfrm>
            <a:off x="685800" y="5466487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Phân tích thiết kế hệ thống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6221C3-BABF-9CD6-E1FE-C73DB53FB2E9}"/>
              </a:ext>
            </a:extLst>
          </p:cNvPr>
          <p:cNvSpPr txBox="1"/>
          <p:nvPr/>
        </p:nvSpPr>
        <p:spPr>
          <a:xfrm>
            <a:off x="3810000" y="2430905"/>
            <a:ext cx="14249400" cy="668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>
                <a:latin typeface="Times New Roman" panose="02020603050405020304" pitchFamily="18" charset="0"/>
                <a:ea typeface="SimSun" panose="02010600030101010101" pitchFamily="2" charset="-122"/>
              </a:rPr>
              <a:t>Biểu đồ Sequence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B5B3B17-E02F-B68B-C9EA-8B8736664322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7908F42D-FB22-B3E8-FA90-88D8C3F66E58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03C568A4-BFAD-E7CC-2370-A6F004F88255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138F8C54-BD64-767A-5C6F-8D98683F07FF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AE600757-F5D5-7B26-9F4F-37F26B8DA5DD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F826E097-3BCE-3AF5-FA5E-5F89664DA132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3329872-7FD3-FEAC-794D-182C27A94D2B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EABAFE3C-5FF0-D842-A9E0-938C9EB2285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8900133-8E7A-1AD6-2B45-261DE93B2A6F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B67D96-E220-6EE5-F62B-6C6FADBCFB3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4320" y="2654794"/>
            <a:ext cx="7954758" cy="698450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310320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56554-27AB-3270-29AB-501889148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165E1BF4-99CC-C549-1AD4-D3B9B946E993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7B01522E-91D5-A442-F2F1-A303CAEFCA0E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6C3FA96-510B-0F67-582E-5C2EEE8A4A6A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67682754-D57C-63D7-8F85-1042F2C1F679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04EEF9-226A-84F2-5DB9-59AC948ACCBC}"/>
              </a:ext>
            </a:extLst>
          </p:cNvPr>
          <p:cNvSpPr txBox="1"/>
          <p:nvPr/>
        </p:nvSpPr>
        <p:spPr>
          <a:xfrm>
            <a:off x="685800" y="5466487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Phân tích thiết kế hệ thống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4B4046A-CF79-D4EB-8A31-5576B0F07F96}"/>
              </a:ext>
            </a:extLst>
          </p:cNvPr>
          <p:cNvSpPr txBox="1"/>
          <p:nvPr/>
        </p:nvSpPr>
        <p:spPr>
          <a:xfrm>
            <a:off x="3810000" y="2430905"/>
            <a:ext cx="14249400" cy="668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>
                <a:latin typeface="Times New Roman" panose="02020603050405020304" pitchFamily="18" charset="0"/>
                <a:ea typeface="SimSun" panose="02010600030101010101" pitchFamily="2" charset="-122"/>
              </a:rPr>
              <a:t>Biểu đồ Sequence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530033A-1341-EFAC-E7BC-10C21F3DB4EC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B9355970-8BAA-94E1-8BAA-1EC5C6394743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4264B3C1-2F76-AC6F-F93F-FB91424FD67B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B77F4C70-C228-F6F7-8C6F-3BDD23BECED4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AF99E511-F2F0-FEDC-5DF5-01E3BF1F6EAC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E4F77698-E8C9-F79A-A612-BB75C748195C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8E9FB84-9976-559E-DC87-62D569F9906A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A6546D38-DA2F-C7EC-5A58-37BEF73BFD0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AA17AF9-CEBF-259B-6BA9-61FE0347185F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5DF329-C30F-77D0-67CA-6A2E808755F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0399" y="2441574"/>
            <a:ext cx="9372767" cy="78398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789006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2F9E9C-2BFA-15EB-A716-BDC746C53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B411BB55-14CA-DCC1-8854-0C6651DF46C9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07FDF50D-0002-046A-A884-9A4A4421B94F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B5FBDBF-DB89-F1BF-2221-E77CFCAACC5E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C2533908-D280-EDC3-5A8E-9844E6094E9A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0569AB-FC0B-E2F8-F6BD-E1068DE6DB92}"/>
              </a:ext>
            </a:extLst>
          </p:cNvPr>
          <p:cNvSpPr txBox="1"/>
          <p:nvPr/>
        </p:nvSpPr>
        <p:spPr>
          <a:xfrm>
            <a:off x="228600" y="5466487"/>
            <a:ext cx="35623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xây dựng chương trình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593D3C-6E2C-5CDD-E860-6D3C503D539B}"/>
              </a:ext>
            </a:extLst>
          </p:cNvPr>
          <p:cNvSpPr txBox="1"/>
          <p:nvPr/>
        </p:nvSpPr>
        <p:spPr>
          <a:xfrm>
            <a:off x="3779520" y="2200522"/>
            <a:ext cx="13716000" cy="8129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>
              <a:lnSpc>
                <a:spcPct val="150000"/>
              </a:lnSpc>
            </a:pPr>
            <a:r>
              <a:rPr lang="vi-VN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Chức năng dành cho người dung</a:t>
            </a:r>
            <a:r>
              <a:rPr lang="en-US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vi-VN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Đăng ký tài khoản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Đăng nhập tài khoản</a:t>
            </a: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Đăng xuất tài khoản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Cập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nhật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thông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tin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cá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nhân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Quản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thông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tin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thú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cưng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Xem danh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sách</a:t>
            </a: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vụ</a:t>
            </a:r>
            <a:endParaRPr lang="vi-VN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Đặt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vụ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Theo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dõi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trạng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thái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vụ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Xem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hồ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sơ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bệnh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Thanh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toán</a:t>
            </a:r>
            <a:endParaRPr lang="vi-VN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7E80DEE-C1B5-F145-16E4-E67C84F8C970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0C03270E-DC13-AC8C-E72C-F6EAB71E7BDA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EDB2AA32-9B29-D68A-D1C3-E3DEBA5B8C67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99E3E066-C401-0402-0313-DBA8662FE926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1FEBB6AC-3F69-4000-0053-163CDBA96746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68AEAC3C-3528-5DB3-1A54-A5A22668615F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A233938-CE2B-264A-7357-7B4334EF0BDB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1298FB80-569E-2959-15BA-8618C81B4D5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1C01769-6209-2C05-501F-528D22BBAB96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</p:spTree>
    <p:extLst>
      <p:ext uri="{BB962C8B-B14F-4D97-AF65-F5344CB8AC3E}">
        <p14:creationId xmlns:p14="http://schemas.microsoft.com/office/powerpoint/2010/main" val="4135363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8E5E0-E390-2D86-5DA0-B717E1AE5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F43631A4-3E67-A0CC-A041-3D33F4994A88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E4253B4E-6EFB-3890-1570-DE0108D89751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114BCCA-BBD2-849C-E541-976D5024CE46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46632BFF-E047-B778-2E69-E013999E9BF3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57F601-756A-040C-C917-EE577C600B58}"/>
              </a:ext>
            </a:extLst>
          </p:cNvPr>
          <p:cNvSpPr txBox="1"/>
          <p:nvPr/>
        </p:nvSpPr>
        <p:spPr>
          <a:xfrm>
            <a:off x="228600" y="5466487"/>
            <a:ext cx="35623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xây dựng chương trình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A51F8F5-9DA6-243E-64D2-50E39690000F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1CFA113-6B18-9036-92B6-7CFEC2D6FEE7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FBE8CC87-A354-3E3F-0A21-7F985FF06612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F453172F-40B9-2C4E-8E53-448D79B15BE1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C33FD5AD-6204-56EE-C5D8-61AA79CECDAF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934B9732-2205-DC09-108F-3DBD342D734A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6A8FF2-46BE-7C59-8492-47E6A088F2B3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0E8025A0-0358-BCA3-7EB0-9307BC50ABF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ABE8B5A-6A80-74FF-B99B-3C3774D4C396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2951EF-534A-1A3A-BADB-839039DD24B7}"/>
              </a:ext>
            </a:extLst>
          </p:cNvPr>
          <p:cNvSpPr txBox="1"/>
          <p:nvPr/>
        </p:nvSpPr>
        <p:spPr>
          <a:xfrm>
            <a:off x="3790950" y="2440058"/>
            <a:ext cx="13696950" cy="7390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>
              <a:lnSpc>
                <a:spcPct val="150000"/>
              </a:lnSpc>
            </a:pPr>
            <a:r>
              <a:rPr lang="vi-VN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Chức năng dành cho quản trị viên</a:t>
            </a:r>
            <a:r>
              <a:rPr lang="en-US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r>
              <a:rPr lang="vi-VN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endParaRPr lang="vi-VN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Dashboard</a:t>
            </a: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Quản lý người dùng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Quản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làm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việc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Quản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làm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đăng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ký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Quản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khám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Quản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vụ</a:t>
            </a:r>
            <a:endParaRPr lang="vi-VN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Quản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chuyển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ngành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Quản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ca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làm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việc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Nhật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thống</a:t>
            </a:r>
            <a:endParaRPr lang="vi-VN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97227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1D8D2-0FAB-3436-E2A7-0D688E055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79368740-E1B5-208C-793D-B004AE5BDDD3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20F00F-6150-BDFF-510E-6C976A67C7C8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188B612-9BB3-1427-1E0F-940D78A0444C}"/>
              </a:ext>
            </a:extLst>
          </p:cNvPr>
          <p:cNvSpPr/>
          <p:nvPr/>
        </p:nvSpPr>
        <p:spPr>
          <a:xfrm>
            <a:off x="3886200" y="5951888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FCED353-2F32-175D-8EC7-F49756940ACD}"/>
              </a:ext>
            </a:extLst>
          </p:cNvPr>
          <p:cNvSpPr txBox="1"/>
          <p:nvPr/>
        </p:nvSpPr>
        <p:spPr>
          <a:xfrm>
            <a:off x="288004" y="1325218"/>
            <a:ext cx="3217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145529B-CB51-8F18-354C-839603D74BC1}"/>
              </a:ext>
            </a:extLst>
          </p:cNvPr>
          <p:cNvSpPr txBox="1"/>
          <p:nvPr/>
        </p:nvSpPr>
        <p:spPr>
          <a:xfrm>
            <a:off x="3810000" y="2412254"/>
            <a:ext cx="117348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6AF1E05-0F98-DE53-97CD-D525CA5C162E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F18EC0C-BD0E-AAB3-6A83-96A4FCE78730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4AD18DA-6D3C-0F9C-ACE6-682949C4993E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DE2E63A-9864-43C5-8422-1C8B1DCAA8CB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0E3DE16-5C6B-B16B-0174-AAE8D04B81E3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EA4AA81E-A499-6881-1397-C481E48C7822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C99D45-151C-B296-DB7A-7B62D570E8A7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9C29E30-D127-4D8A-3052-2017AE2BE71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3074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347BE-E224-E604-8CDD-9CB541C03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BC2D575A-ABEB-78B4-EF08-F052359BC135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E9EE90A-4980-3D8B-DF95-76D446B9DE0E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5B98CEC-E7C9-4B81-6C09-6BC3E1059206}"/>
              </a:ext>
            </a:extLst>
          </p:cNvPr>
          <p:cNvSpPr/>
          <p:nvPr/>
        </p:nvSpPr>
        <p:spPr>
          <a:xfrm>
            <a:off x="3886200" y="7018688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852AA0-1837-365E-1C54-E6971A13D02F}"/>
              </a:ext>
            </a:extLst>
          </p:cNvPr>
          <p:cNvSpPr txBox="1"/>
          <p:nvPr/>
        </p:nvSpPr>
        <p:spPr>
          <a:xfrm>
            <a:off x="288004" y="1325218"/>
            <a:ext cx="3217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3C1DFFA-E81C-062B-69C9-C2C1F6E7A32F}"/>
              </a:ext>
            </a:extLst>
          </p:cNvPr>
          <p:cNvSpPr txBox="1"/>
          <p:nvPr/>
        </p:nvSpPr>
        <p:spPr>
          <a:xfrm>
            <a:off x="3810000" y="2412254"/>
            <a:ext cx="117348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2B74D9D-EF1B-AD66-C34C-928CC2EC5052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0DA8AAB3-FD15-853A-0492-2D0F630C67DF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80408C2E-3B7C-2259-571B-A22101C97F18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E51EA1B-10E0-3843-6EB5-15623F71601C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BDAC744-187F-28EE-ACE1-6C5DA73D11C6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DB22B764-8B09-F027-6C6A-DBAEFE8DBB02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019C329-8A72-DADB-AACF-EE443793D652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DB7B9E24-143A-8170-8468-703202E710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2165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506FD-135E-BD18-48C5-C7275689C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45B6D8C4-5AF2-C435-9C41-B74740976A62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3794457F-61DA-687F-2ED6-899A3859B259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2E8348B-6609-3B36-6D92-6BEF3D0645ED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B5C0315C-6C43-47FF-91DA-3CD4CB0C6C66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1C5D64-C83C-81FD-D6B7-E8410429F51D}"/>
              </a:ext>
            </a:extLst>
          </p:cNvPr>
          <p:cNvSpPr txBox="1"/>
          <p:nvPr/>
        </p:nvSpPr>
        <p:spPr>
          <a:xfrm>
            <a:off x="1143000" y="5466487"/>
            <a:ext cx="1981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Hạn chế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BA872A8-1D7B-76B7-EF9E-6589938EE873}"/>
              </a:ext>
            </a:extLst>
          </p:cNvPr>
          <p:cNvSpPr txBox="1"/>
          <p:nvPr/>
        </p:nvSpPr>
        <p:spPr>
          <a:xfrm>
            <a:off x="3810000" y="2430905"/>
            <a:ext cx="14249400" cy="22198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just">
              <a:lnSpc>
                <a:spcPct val="150000"/>
              </a:lnSpc>
              <a:buFont typeface="Times New Roman" panose="02020603050405020304" pitchFamily="18" charset="0"/>
              <a:buChar char="-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Hiển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thị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gom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nhóm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vụ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sử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dụng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chung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một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thời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điểm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chưa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được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tối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ưu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Times New Roman" panose="02020603050405020304" pitchFamily="18" charset="0"/>
              <a:buChar char="-"/>
            </a:pP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Chưa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hỗ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trợ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xác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thực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tài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khoản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qua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số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điện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thoại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Times New Roman" panose="02020603050405020304" pitchFamily="18" charset="0"/>
              <a:buChar char="-"/>
            </a:pP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Chưa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hỗ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trợ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đăng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nhập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bằng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Google</a:t>
            </a:r>
            <a:endParaRPr lang="vi-VN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62F12F8-4D46-5013-FF99-3AB7D90EBA39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B268F26E-7237-5884-4D7C-3F11EF5731EA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AEB9A2E5-1501-4CC1-9F4C-B294F50D597A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F10E760C-BD2A-438D-8DF3-443C85D8AE38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1CC1D9F-F723-83A0-0948-AEE92CED4AE7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120C68BD-6A8B-E5A3-5DA2-AB0097C555E1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4EBA2A5-3733-7E1C-D9B1-D52A796E7E61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E7CD5E90-2022-31DD-93FF-3B19D5FFD82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00E05D7-473B-B522-EE7E-2CD09C0125F0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5. KẾT LUẬN VÀ ĐỀ NGHỊ</a:t>
            </a:r>
          </a:p>
        </p:txBody>
      </p:sp>
    </p:spTree>
    <p:extLst>
      <p:ext uri="{BB962C8B-B14F-4D97-AF65-F5344CB8AC3E}">
        <p14:creationId xmlns:p14="http://schemas.microsoft.com/office/powerpoint/2010/main" val="4098380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4141-122C-A504-CFF1-F1FF7DBCA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80894E3F-A694-82FD-3686-D660526AE9EB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1BE77764-D741-D379-7DE6-3A5A3191D010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94B4816-10C1-0EDA-43E5-04DF1AD41AD9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2D3C98E8-2502-66D5-E1B8-EE32344CF30B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A5AA8B-EB44-F055-62AB-8DA28CF3BEAD}"/>
              </a:ext>
            </a:extLst>
          </p:cNvPr>
          <p:cNvSpPr txBox="1"/>
          <p:nvPr/>
        </p:nvSpPr>
        <p:spPr>
          <a:xfrm>
            <a:off x="228600" y="5697319"/>
            <a:ext cx="3352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Hướng phát triển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50162C-7436-34E2-8A57-689044972FB3}"/>
              </a:ext>
            </a:extLst>
          </p:cNvPr>
          <p:cNvSpPr txBox="1"/>
          <p:nvPr/>
        </p:nvSpPr>
        <p:spPr>
          <a:xfrm>
            <a:off x="3810000" y="2430905"/>
            <a:ext cx="14249400" cy="3697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just">
              <a:lnSpc>
                <a:spcPct val="150000"/>
              </a:lnSpc>
              <a:buFont typeface="Times New Roman" panose="02020603050405020304" pitchFamily="18" charset="0"/>
              <a:buChar char="-"/>
            </a:pP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Xác thực OAuth2.0: Cho phép đăng nhập qua Google, Facebook.</a:t>
            </a:r>
          </a:p>
          <a:p>
            <a:pPr marL="342900" lvl="0" indent="-342900" algn="just">
              <a:lnSpc>
                <a:spcPct val="150000"/>
              </a:lnSpc>
              <a:buFont typeface="Times New Roman" panose="02020603050405020304" pitchFamily="18" charset="0"/>
              <a:buChar char="-"/>
            </a:pP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Đánh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giá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vụ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Phát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triển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thêm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chức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năng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đánh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giá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vụ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để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có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cái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nhìn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quan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hơn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đến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vụ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tại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phòng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khám</a:t>
            </a:r>
            <a:endParaRPr lang="vi-VN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Times New Roman" panose="02020603050405020304" pitchFamily="18" charset="0"/>
              <a:buChar char="-"/>
            </a:pP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Trải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nghiệm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di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động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phát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triển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thêm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trên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nền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tảng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di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động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để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tối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ưu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trải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nghiệm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người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dùng</a:t>
            </a:r>
            <a:endParaRPr lang="vi-VN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D19BABB-B2BC-FD41-1E7B-B67E45F0A8AD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D0802C02-31F5-461B-8CC9-AEB6F7DC6191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B27BFD4-4020-F391-691D-70D2577BD6ED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6004BDC-08C2-DECF-3C70-261A9862EC24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0739424-6BD8-A7AF-BBA1-DF3F4EDA1753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974089B6-1466-CB0C-6739-88E3D84CBC4C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A712D5D-9C60-779E-461F-F3E810AFE060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AC6DA044-79FD-C751-40D4-07072D520C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8392500-7BFA-165E-2CD7-863BE6F51099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5. KẾT LUẬN VÀ ĐỀ NGHỊ</a:t>
            </a:r>
          </a:p>
        </p:txBody>
      </p:sp>
    </p:spTree>
    <p:extLst>
      <p:ext uri="{BB962C8B-B14F-4D97-AF65-F5344CB8AC3E}">
        <p14:creationId xmlns:p14="http://schemas.microsoft.com/office/powerpoint/2010/main" val="34769684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F19FA-D268-EF91-FD4D-693FA8203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26258D74-D495-0ECF-7D55-A5E5B6F81B4B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0B4E583-9A7F-BFF7-67EA-CAF0B28E55AE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A902E67F-EF25-B0F8-3E2F-55C0B59188EB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7325755-1079-3B89-AA35-45CF6EE003E4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0BCF3E6-0AAF-2888-C813-322E4FF8C29E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DB80DE44-58ED-2CA5-C98A-8AF1C82A820A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F591517-0675-A8D6-FDA3-082DB9173C07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4183D0BF-5351-50A5-9144-8630F9D2B9F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6D7747C1-F350-05A8-C16A-407403D25E29}"/>
              </a:ext>
            </a:extLst>
          </p:cNvPr>
          <p:cNvGrpSpPr/>
          <p:nvPr/>
        </p:nvGrpSpPr>
        <p:grpSpPr>
          <a:xfrm rot="1545610">
            <a:off x="16074117" y="6800148"/>
            <a:ext cx="3821898" cy="3309783"/>
            <a:chOff x="0" y="0"/>
            <a:chExt cx="3619627" cy="3134614"/>
          </a:xfrm>
          <a:solidFill>
            <a:srgbClr val="FCAF17"/>
          </a:solidFill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02C20A93-E610-A382-B14C-B4159CE044A0}"/>
                </a:ext>
              </a:extLst>
            </p:cNvPr>
            <p:cNvSpPr/>
            <p:nvPr/>
          </p:nvSpPr>
          <p:spPr>
            <a:xfrm>
              <a:off x="0" y="0"/>
              <a:ext cx="3619627" cy="3134614"/>
            </a:xfrm>
            <a:custGeom>
              <a:avLst/>
              <a:gdLst/>
              <a:ahLst/>
              <a:cxnLst/>
              <a:rect l="l" t="t" r="r" b="b"/>
              <a:pathLst>
                <a:path w="3619627" h="3134614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2">
            <a:extLst>
              <a:ext uri="{FF2B5EF4-FFF2-40B4-BE49-F238E27FC236}">
                <a16:creationId xmlns:a16="http://schemas.microsoft.com/office/drawing/2014/main" id="{0F53253A-3C37-FDBA-2C1D-44E35CE0A741}"/>
              </a:ext>
            </a:extLst>
          </p:cNvPr>
          <p:cNvGrpSpPr/>
          <p:nvPr/>
        </p:nvGrpSpPr>
        <p:grpSpPr>
          <a:xfrm>
            <a:off x="1796819" y="3036705"/>
            <a:ext cx="14766361" cy="4525690"/>
            <a:chOff x="770160" y="-108092"/>
            <a:chExt cx="19688479" cy="6034253"/>
          </a:xfrm>
        </p:grpSpPr>
        <p:sp>
          <p:nvSpPr>
            <p:cNvPr id="14" name="TextBox 3">
              <a:extLst>
                <a:ext uri="{FF2B5EF4-FFF2-40B4-BE49-F238E27FC236}">
                  <a16:creationId xmlns:a16="http://schemas.microsoft.com/office/drawing/2014/main" id="{5FDCE334-8BA4-045A-3CDB-FD308E979023}"/>
                </a:ext>
              </a:extLst>
            </p:cNvPr>
            <p:cNvSpPr txBox="1"/>
            <p:nvPr/>
          </p:nvSpPr>
          <p:spPr>
            <a:xfrm>
              <a:off x="8839200" y="4455673"/>
              <a:ext cx="11232775" cy="147048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4320"/>
                </a:lnSpc>
                <a:spcBef>
                  <a:spcPct val="0"/>
                </a:spcBef>
              </a:pPr>
              <a:r>
                <a:rPr lang="vi-VN" sz="3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</a:t>
              </a:r>
              <a:r>
                <a:rPr lang="en-US" sz="36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iảng</a:t>
              </a:r>
              <a:r>
                <a:rPr 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36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viên</a:t>
              </a:r>
              <a:r>
                <a:rPr 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36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hướng</a:t>
              </a:r>
              <a:r>
                <a:rPr 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36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dẫn</a:t>
              </a:r>
              <a:r>
                <a:rPr lang="vi-VN" sz="3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: ThS </a:t>
              </a:r>
              <a:r>
                <a:rPr 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Nguyễn Thị Lan</a:t>
              </a:r>
            </a:p>
            <a:p>
              <a:pPr>
                <a:lnSpc>
                  <a:spcPts val="4320"/>
                </a:lnSpc>
                <a:spcBef>
                  <a:spcPct val="0"/>
                </a:spcBef>
              </a:pPr>
              <a:r>
                <a:rPr 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Sinh </a:t>
              </a:r>
              <a:r>
                <a:rPr lang="en-US" sz="36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viên</a:t>
              </a:r>
              <a:r>
                <a:rPr 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: </a:t>
              </a:r>
              <a:r>
                <a:rPr lang="en-US" sz="36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Trần</a:t>
              </a:r>
              <a:r>
                <a:rPr 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Nguyễn Minh Hùng</a:t>
              </a:r>
            </a:p>
          </p:txBody>
        </p:sp>
        <p:sp>
          <p:nvSpPr>
            <p:cNvPr id="15" name="TextBox 4">
              <a:extLst>
                <a:ext uri="{FF2B5EF4-FFF2-40B4-BE49-F238E27FC236}">
                  <a16:creationId xmlns:a16="http://schemas.microsoft.com/office/drawing/2014/main" id="{73ED8446-CC80-BE25-C2BF-144064A2FBAE}"/>
                </a:ext>
              </a:extLst>
            </p:cNvPr>
            <p:cNvSpPr txBox="1"/>
            <p:nvPr/>
          </p:nvSpPr>
          <p:spPr>
            <a:xfrm>
              <a:off x="770160" y="-108092"/>
              <a:ext cx="19688479" cy="35643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0790"/>
                </a:lnSpc>
              </a:pP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Em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xin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trân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trọng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cảm </a:t>
              </a:r>
              <a:r>
                <a:rPr lang="vi-VN" sz="8300">
                  <a:latin typeface="Times New Roman" panose="02020603050405020304" pitchFamily="18" charset="0"/>
                  <a:cs typeface="Times New Roman" panose="02020603050405020304" pitchFamily="18" charset="0"/>
                </a:rPr>
                <a:t>ơn</a:t>
              </a:r>
              <a:r>
                <a:rPr lang="en-US" sz="8300">
                  <a:latin typeface="Times New Roman" panose="02020603050405020304" pitchFamily="18" charset="0"/>
                  <a:cs typeface="Times New Roman" panose="02020603050405020304" pitchFamily="18" charset="0"/>
                </a:rPr>
                <a:t> sự lắng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nghe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của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Thầy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Cô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và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các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bạn</a:t>
              </a:r>
              <a:r>
                <a:rPr lang="vi-VN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!</a:t>
              </a:r>
              <a:endParaRPr lang="en-US" sz="83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6" name="Group 6">
            <a:extLst>
              <a:ext uri="{FF2B5EF4-FFF2-40B4-BE49-F238E27FC236}">
                <a16:creationId xmlns:a16="http://schemas.microsoft.com/office/drawing/2014/main" id="{5E5B3D54-7FEC-8624-58C7-BB061E84B982}"/>
              </a:ext>
            </a:extLst>
          </p:cNvPr>
          <p:cNvGrpSpPr/>
          <p:nvPr/>
        </p:nvGrpSpPr>
        <p:grpSpPr>
          <a:xfrm rot="1508008">
            <a:off x="14129092" y="7893231"/>
            <a:ext cx="4724282" cy="3998659"/>
            <a:chOff x="0" y="0"/>
            <a:chExt cx="3619627" cy="3134614"/>
          </a:xfrm>
          <a:solidFill>
            <a:srgbClr val="007A48"/>
          </a:solidFill>
        </p:grpSpPr>
        <p:sp>
          <p:nvSpPr>
            <p:cNvPr id="17" name="Freeform 7">
              <a:extLst>
                <a:ext uri="{FF2B5EF4-FFF2-40B4-BE49-F238E27FC236}">
                  <a16:creationId xmlns:a16="http://schemas.microsoft.com/office/drawing/2014/main" id="{2B494DBE-F778-C7FA-32B4-83C1B7494755}"/>
                </a:ext>
              </a:extLst>
            </p:cNvPr>
            <p:cNvSpPr/>
            <p:nvPr/>
          </p:nvSpPr>
          <p:spPr>
            <a:xfrm>
              <a:off x="0" y="0"/>
              <a:ext cx="3619627" cy="3134614"/>
            </a:xfrm>
            <a:custGeom>
              <a:avLst/>
              <a:gdLst/>
              <a:ahLst/>
              <a:cxnLst/>
              <a:rect l="l" t="t" r="r" b="b"/>
              <a:pathLst>
                <a:path w="3619627" h="3134614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" name="Group 8">
            <a:extLst>
              <a:ext uri="{FF2B5EF4-FFF2-40B4-BE49-F238E27FC236}">
                <a16:creationId xmlns:a16="http://schemas.microsoft.com/office/drawing/2014/main" id="{8DAA51C9-C668-FD81-22AA-2E56165EB775}"/>
              </a:ext>
            </a:extLst>
          </p:cNvPr>
          <p:cNvGrpSpPr/>
          <p:nvPr/>
        </p:nvGrpSpPr>
        <p:grpSpPr>
          <a:xfrm rot="1637264">
            <a:off x="11126274" y="9293410"/>
            <a:ext cx="7231083" cy="5869898"/>
            <a:chOff x="0" y="0"/>
            <a:chExt cx="3619627" cy="3134614"/>
          </a:xfrm>
          <a:solidFill>
            <a:srgbClr val="583F3B"/>
          </a:solidFill>
        </p:grpSpPr>
        <p:sp>
          <p:nvSpPr>
            <p:cNvPr id="19" name="Freeform 9">
              <a:extLst>
                <a:ext uri="{FF2B5EF4-FFF2-40B4-BE49-F238E27FC236}">
                  <a16:creationId xmlns:a16="http://schemas.microsoft.com/office/drawing/2014/main" id="{1457ADC0-2BED-39D2-D4CB-5C7BE05FF7D1}"/>
                </a:ext>
              </a:extLst>
            </p:cNvPr>
            <p:cNvSpPr/>
            <p:nvPr/>
          </p:nvSpPr>
          <p:spPr>
            <a:xfrm>
              <a:off x="0" y="0"/>
              <a:ext cx="3619627" cy="3134614"/>
            </a:xfrm>
            <a:custGeom>
              <a:avLst/>
              <a:gdLst/>
              <a:ahLst/>
              <a:cxnLst/>
              <a:rect l="l" t="t" r="r" b="b"/>
              <a:pathLst>
                <a:path w="3619627" h="3134614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2355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2897</TotalTime>
  <Words>2110</Words>
  <Application>Microsoft Office PowerPoint</Application>
  <PresentationFormat>Custom</PresentationFormat>
  <Paragraphs>310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Calibri</vt:lpstr>
      <vt:lpstr>Muli Bold</vt:lpstr>
      <vt:lpstr>Times New Roman</vt:lpstr>
      <vt:lpstr>Wingdings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Xanh lá đậm Xanh lá nhạt Trắng Doanh nghiệp Hình học Bản trình bày nội bộ của công ty Bản thuyết trình Kinh doanh</dc:title>
  <dc:creator>ThinkPad</dc:creator>
  <cp:lastModifiedBy>Trần Nguyễn Minh Hùng</cp:lastModifiedBy>
  <cp:revision>156</cp:revision>
  <dcterms:created xsi:type="dcterms:W3CDTF">2006-08-16T00:00:00Z</dcterms:created>
  <dcterms:modified xsi:type="dcterms:W3CDTF">2026-06-10T18:59:57Z</dcterms:modified>
  <dc:identifier>DAFyo4urGnA</dc:identifier>
</cp:coreProperties>
</file>